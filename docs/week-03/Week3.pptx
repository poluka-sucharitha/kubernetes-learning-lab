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9" r:id="rId3"/>
    <p:sldId id="294" r:id="rId4"/>
    <p:sldId id="291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0"/>
    <p:restoredTop sz="94659"/>
  </p:normalViewPr>
  <p:slideViewPr>
    <p:cSldViewPr snapToGrid="0">
      <p:cViewPr varScale="1">
        <p:scale>
          <a:sx n="146" d="100"/>
          <a:sy n="146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2D61A7-A9D3-4021-8889-C6C714B6AED9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6F5FBB8-D3A2-4972-AE68-9826E3385F22}">
      <dgm:prSet/>
      <dgm:spPr/>
      <dgm:t>
        <a:bodyPr/>
        <a:lstStyle/>
        <a:p>
          <a:r>
            <a:rPr lang="en-US"/>
            <a:t>K8s Cluster Components</a:t>
          </a:r>
        </a:p>
      </dgm:t>
    </dgm:pt>
    <dgm:pt modelId="{C534EE4E-EAA6-4C4B-8E25-BD295A3E0179}" type="parTrans" cxnId="{385FBE34-8DB5-482D-87FD-DD3B36F26E31}">
      <dgm:prSet/>
      <dgm:spPr/>
      <dgm:t>
        <a:bodyPr/>
        <a:lstStyle/>
        <a:p>
          <a:endParaRPr lang="en-US"/>
        </a:p>
      </dgm:t>
    </dgm:pt>
    <dgm:pt modelId="{63812B6D-3760-42D7-BDA5-725C86CD83FA}" type="sibTrans" cxnId="{385FBE34-8DB5-482D-87FD-DD3B36F26E31}">
      <dgm:prSet/>
      <dgm:spPr/>
      <dgm:t>
        <a:bodyPr/>
        <a:lstStyle/>
        <a:p>
          <a:endParaRPr lang="en-US"/>
        </a:p>
      </dgm:t>
    </dgm:pt>
    <dgm:pt modelId="{83E1925D-F201-4669-9F1B-46C2FA234EF3}">
      <dgm:prSet/>
      <dgm:spPr/>
      <dgm:t>
        <a:bodyPr/>
        <a:lstStyle/>
        <a:p>
          <a:r>
            <a:rPr lang="en-US" dirty="0"/>
            <a:t>Cluster State Restore</a:t>
          </a:r>
        </a:p>
      </dgm:t>
    </dgm:pt>
    <dgm:pt modelId="{17AABC33-5909-461A-A3CB-990F8527FC28}" type="parTrans" cxnId="{F3110D9D-3EF5-4C6E-A21B-4A972DAA367F}">
      <dgm:prSet/>
      <dgm:spPr/>
      <dgm:t>
        <a:bodyPr/>
        <a:lstStyle/>
        <a:p>
          <a:endParaRPr lang="en-US"/>
        </a:p>
      </dgm:t>
    </dgm:pt>
    <dgm:pt modelId="{7C4E9B4D-2D05-48B3-9EA8-361F22B8DA9F}" type="sibTrans" cxnId="{F3110D9D-3EF5-4C6E-A21B-4A972DAA367F}">
      <dgm:prSet/>
      <dgm:spPr/>
      <dgm:t>
        <a:bodyPr/>
        <a:lstStyle/>
        <a:p>
          <a:endParaRPr lang="en-US"/>
        </a:p>
      </dgm:t>
    </dgm:pt>
    <dgm:pt modelId="{6C842158-C176-4093-B6A7-BC5C42224B7C}">
      <dgm:prSet/>
      <dgm:spPr/>
      <dgm:t>
        <a:bodyPr/>
        <a:lstStyle/>
        <a:p>
          <a:r>
            <a:rPr lang="en-US"/>
            <a:t>Cilium </a:t>
          </a:r>
        </a:p>
      </dgm:t>
    </dgm:pt>
    <dgm:pt modelId="{1EFC1DA4-16FA-454E-9682-D23F71A2EE1A}" type="parTrans" cxnId="{406FF15C-DAE5-4BD3-9B97-D5415AFCFB2A}">
      <dgm:prSet/>
      <dgm:spPr/>
      <dgm:t>
        <a:bodyPr/>
        <a:lstStyle/>
        <a:p>
          <a:endParaRPr lang="en-US"/>
        </a:p>
      </dgm:t>
    </dgm:pt>
    <dgm:pt modelId="{12897CD0-3F60-43AC-B72B-69837411128D}" type="sibTrans" cxnId="{406FF15C-DAE5-4BD3-9B97-D5415AFCFB2A}">
      <dgm:prSet/>
      <dgm:spPr/>
      <dgm:t>
        <a:bodyPr/>
        <a:lstStyle/>
        <a:p>
          <a:endParaRPr lang="en-US"/>
        </a:p>
      </dgm:t>
    </dgm:pt>
    <dgm:pt modelId="{03232A83-BE71-464C-93DF-585638E2F4AC}" type="pres">
      <dgm:prSet presAssocID="{612D61A7-A9D3-4021-8889-C6C714B6AED9}" presName="linear" presStyleCnt="0">
        <dgm:presLayoutVars>
          <dgm:dir/>
          <dgm:animLvl val="lvl"/>
          <dgm:resizeHandles val="exact"/>
        </dgm:presLayoutVars>
      </dgm:prSet>
      <dgm:spPr/>
    </dgm:pt>
    <dgm:pt modelId="{223CFA2F-9EAC-F14F-BFCA-8F4B00CAEC9D}" type="pres">
      <dgm:prSet presAssocID="{86F5FBB8-D3A2-4972-AE68-9826E3385F22}" presName="parentLin" presStyleCnt="0"/>
      <dgm:spPr/>
    </dgm:pt>
    <dgm:pt modelId="{19FEBC3A-8236-FD41-B2F7-6B11FB325BD2}" type="pres">
      <dgm:prSet presAssocID="{86F5FBB8-D3A2-4972-AE68-9826E3385F22}" presName="parentLeftMargin" presStyleLbl="node1" presStyleIdx="0" presStyleCnt="3"/>
      <dgm:spPr/>
    </dgm:pt>
    <dgm:pt modelId="{02DD6416-CE74-BE4C-BD7F-658ADAF9B36B}" type="pres">
      <dgm:prSet presAssocID="{86F5FBB8-D3A2-4972-AE68-9826E3385F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8D08B2-1B56-814C-B68E-A01A0C6C7FC2}" type="pres">
      <dgm:prSet presAssocID="{86F5FBB8-D3A2-4972-AE68-9826E3385F22}" presName="negativeSpace" presStyleCnt="0"/>
      <dgm:spPr/>
    </dgm:pt>
    <dgm:pt modelId="{50AC3246-6D12-424F-A64F-FE7F8BD57564}" type="pres">
      <dgm:prSet presAssocID="{86F5FBB8-D3A2-4972-AE68-9826E3385F22}" presName="childText" presStyleLbl="conFgAcc1" presStyleIdx="0" presStyleCnt="3">
        <dgm:presLayoutVars>
          <dgm:bulletEnabled val="1"/>
        </dgm:presLayoutVars>
      </dgm:prSet>
      <dgm:spPr/>
    </dgm:pt>
    <dgm:pt modelId="{1661288B-8B5F-484D-9061-90176AB06E5F}" type="pres">
      <dgm:prSet presAssocID="{63812B6D-3760-42D7-BDA5-725C86CD83FA}" presName="spaceBetweenRectangles" presStyleCnt="0"/>
      <dgm:spPr/>
    </dgm:pt>
    <dgm:pt modelId="{FFCA8C06-39C6-3243-9AFB-7957C9D7427C}" type="pres">
      <dgm:prSet presAssocID="{83E1925D-F201-4669-9F1B-46C2FA234EF3}" presName="parentLin" presStyleCnt="0"/>
      <dgm:spPr/>
    </dgm:pt>
    <dgm:pt modelId="{B4CD1968-7FAE-5F41-9348-A8897EDDD4FC}" type="pres">
      <dgm:prSet presAssocID="{83E1925D-F201-4669-9F1B-46C2FA234EF3}" presName="parentLeftMargin" presStyleLbl="node1" presStyleIdx="0" presStyleCnt="3"/>
      <dgm:spPr/>
    </dgm:pt>
    <dgm:pt modelId="{A88BB135-CAA3-0E40-B2C3-4B28802939BC}" type="pres">
      <dgm:prSet presAssocID="{83E1925D-F201-4669-9F1B-46C2FA234EF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C643D85-5955-194C-B45F-82001B55E3DA}" type="pres">
      <dgm:prSet presAssocID="{83E1925D-F201-4669-9F1B-46C2FA234EF3}" presName="negativeSpace" presStyleCnt="0"/>
      <dgm:spPr/>
    </dgm:pt>
    <dgm:pt modelId="{D1CDA92B-1482-4D4E-990D-D4C6D8E9DB12}" type="pres">
      <dgm:prSet presAssocID="{83E1925D-F201-4669-9F1B-46C2FA234EF3}" presName="childText" presStyleLbl="conFgAcc1" presStyleIdx="1" presStyleCnt="3">
        <dgm:presLayoutVars>
          <dgm:bulletEnabled val="1"/>
        </dgm:presLayoutVars>
      </dgm:prSet>
      <dgm:spPr/>
    </dgm:pt>
    <dgm:pt modelId="{9ACF10C3-BFC1-F94C-B9DE-CD7DFCE91055}" type="pres">
      <dgm:prSet presAssocID="{7C4E9B4D-2D05-48B3-9EA8-361F22B8DA9F}" presName="spaceBetweenRectangles" presStyleCnt="0"/>
      <dgm:spPr/>
    </dgm:pt>
    <dgm:pt modelId="{F507770D-81B3-284F-AC0D-44A05CB016AD}" type="pres">
      <dgm:prSet presAssocID="{6C842158-C176-4093-B6A7-BC5C42224B7C}" presName="parentLin" presStyleCnt="0"/>
      <dgm:spPr/>
    </dgm:pt>
    <dgm:pt modelId="{F0E6E97B-1405-4E40-B5AE-A322AFF86EA7}" type="pres">
      <dgm:prSet presAssocID="{6C842158-C176-4093-B6A7-BC5C42224B7C}" presName="parentLeftMargin" presStyleLbl="node1" presStyleIdx="1" presStyleCnt="3"/>
      <dgm:spPr/>
    </dgm:pt>
    <dgm:pt modelId="{EE3C6285-3D2F-8B45-9849-CBA63ADDD03D}" type="pres">
      <dgm:prSet presAssocID="{6C842158-C176-4093-B6A7-BC5C42224B7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1E221CB-C28F-7C49-B41F-2C394622844E}" type="pres">
      <dgm:prSet presAssocID="{6C842158-C176-4093-B6A7-BC5C42224B7C}" presName="negativeSpace" presStyleCnt="0"/>
      <dgm:spPr/>
    </dgm:pt>
    <dgm:pt modelId="{F31D8390-7A49-814C-AABC-FFF500A607C9}" type="pres">
      <dgm:prSet presAssocID="{6C842158-C176-4093-B6A7-BC5C42224B7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4D41C08-9117-FB44-8774-1DE4F530FBBD}" type="presOf" srcId="{86F5FBB8-D3A2-4972-AE68-9826E3385F22}" destId="{02DD6416-CE74-BE4C-BD7F-658ADAF9B36B}" srcOrd="1" destOrd="0" presId="urn:microsoft.com/office/officeart/2005/8/layout/list1"/>
    <dgm:cxn modelId="{197C0528-45AF-F648-A165-B2F2954A741A}" type="presOf" srcId="{612D61A7-A9D3-4021-8889-C6C714B6AED9}" destId="{03232A83-BE71-464C-93DF-585638E2F4AC}" srcOrd="0" destOrd="0" presId="urn:microsoft.com/office/officeart/2005/8/layout/list1"/>
    <dgm:cxn modelId="{385FBE34-8DB5-482D-87FD-DD3B36F26E31}" srcId="{612D61A7-A9D3-4021-8889-C6C714B6AED9}" destId="{86F5FBB8-D3A2-4972-AE68-9826E3385F22}" srcOrd="0" destOrd="0" parTransId="{C534EE4E-EAA6-4C4B-8E25-BD295A3E0179}" sibTransId="{63812B6D-3760-42D7-BDA5-725C86CD83FA}"/>
    <dgm:cxn modelId="{406FF15C-DAE5-4BD3-9B97-D5415AFCFB2A}" srcId="{612D61A7-A9D3-4021-8889-C6C714B6AED9}" destId="{6C842158-C176-4093-B6A7-BC5C42224B7C}" srcOrd="2" destOrd="0" parTransId="{1EFC1DA4-16FA-454E-9682-D23F71A2EE1A}" sibTransId="{12897CD0-3F60-43AC-B72B-69837411128D}"/>
    <dgm:cxn modelId="{2D208B61-CB91-834E-8866-6D3D6BF63B22}" type="presOf" srcId="{6C842158-C176-4093-B6A7-BC5C42224B7C}" destId="{F0E6E97B-1405-4E40-B5AE-A322AFF86EA7}" srcOrd="0" destOrd="0" presId="urn:microsoft.com/office/officeart/2005/8/layout/list1"/>
    <dgm:cxn modelId="{58D89A62-4C31-824C-BF21-2D81AFA96E1A}" type="presOf" srcId="{86F5FBB8-D3A2-4972-AE68-9826E3385F22}" destId="{19FEBC3A-8236-FD41-B2F7-6B11FB325BD2}" srcOrd="0" destOrd="0" presId="urn:microsoft.com/office/officeart/2005/8/layout/list1"/>
    <dgm:cxn modelId="{FD4C1369-DA1B-9C4E-BF5E-AA90A0EAC815}" type="presOf" srcId="{6C842158-C176-4093-B6A7-BC5C42224B7C}" destId="{EE3C6285-3D2F-8B45-9849-CBA63ADDD03D}" srcOrd="1" destOrd="0" presId="urn:microsoft.com/office/officeart/2005/8/layout/list1"/>
    <dgm:cxn modelId="{5B767D7A-91C9-1A41-BFB7-2BC892715443}" type="presOf" srcId="{83E1925D-F201-4669-9F1B-46C2FA234EF3}" destId="{A88BB135-CAA3-0E40-B2C3-4B28802939BC}" srcOrd="1" destOrd="0" presId="urn:microsoft.com/office/officeart/2005/8/layout/list1"/>
    <dgm:cxn modelId="{F3110D9D-3EF5-4C6E-A21B-4A972DAA367F}" srcId="{612D61A7-A9D3-4021-8889-C6C714B6AED9}" destId="{83E1925D-F201-4669-9F1B-46C2FA234EF3}" srcOrd="1" destOrd="0" parTransId="{17AABC33-5909-461A-A3CB-990F8527FC28}" sibTransId="{7C4E9B4D-2D05-48B3-9EA8-361F22B8DA9F}"/>
    <dgm:cxn modelId="{22077FD3-9E18-414C-9B76-78147BDC0D77}" type="presOf" srcId="{83E1925D-F201-4669-9F1B-46C2FA234EF3}" destId="{B4CD1968-7FAE-5F41-9348-A8897EDDD4FC}" srcOrd="0" destOrd="0" presId="urn:microsoft.com/office/officeart/2005/8/layout/list1"/>
    <dgm:cxn modelId="{3D465073-ED52-654F-B08E-D8556DF0D8ED}" type="presParOf" srcId="{03232A83-BE71-464C-93DF-585638E2F4AC}" destId="{223CFA2F-9EAC-F14F-BFCA-8F4B00CAEC9D}" srcOrd="0" destOrd="0" presId="urn:microsoft.com/office/officeart/2005/8/layout/list1"/>
    <dgm:cxn modelId="{8B68B08A-D864-1042-9BBE-B16DB81A1AAE}" type="presParOf" srcId="{223CFA2F-9EAC-F14F-BFCA-8F4B00CAEC9D}" destId="{19FEBC3A-8236-FD41-B2F7-6B11FB325BD2}" srcOrd="0" destOrd="0" presId="urn:microsoft.com/office/officeart/2005/8/layout/list1"/>
    <dgm:cxn modelId="{6284105E-22C8-5C4B-B7BA-A8BECDC3360E}" type="presParOf" srcId="{223CFA2F-9EAC-F14F-BFCA-8F4B00CAEC9D}" destId="{02DD6416-CE74-BE4C-BD7F-658ADAF9B36B}" srcOrd="1" destOrd="0" presId="urn:microsoft.com/office/officeart/2005/8/layout/list1"/>
    <dgm:cxn modelId="{1558A89A-8681-9348-8DC2-B8478005DB80}" type="presParOf" srcId="{03232A83-BE71-464C-93DF-585638E2F4AC}" destId="{B98D08B2-1B56-814C-B68E-A01A0C6C7FC2}" srcOrd="1" destOrd="0" presId="urn:microsoft.com/office/officeart/2005/8/layout/list1"/>
    <dgm:cxn modelId="{46DF4547-B11A-0449-8DCF-E7AE6D1B788B}" type="presParOf" srcId="{03232A83-BE71-464C-93DF-585638E2F4AC}" destId="{50AC3246-6D12-424F-A64F-FE7F8BD57564}" srcOrd="2" destOrd="0" presId="urn:microsoft.com/office/officeart/2005/8/layout/list1"/>
    <dgm:cxn modelId="{15B09920-F06B-9447-B3A8-80DB048BBA44}" type="presParOf" srcId="{03232A83-BE71-464C-93DF-585638E2F4AC}" destId="{1661288B-8B5F-484D-9061-90176AB06E5F}" srcOrd="3" destOrd="0" presId="urn:microsoft.com/office/officeart/2005/8/layout/list1"/>
    <dgm:cxn modelId="{939D98C3-310D-4F47-99FA-6A807240AC2B}" type="presParOf" srcId="{03232A83-BE71-464C-93DF-585638E2F4AC}" destId="{FFCA8C06-39C6-3243-9AFB-7957C9D7427C}" srcOrd="4" destOrd="0" presId="urn:microsoft.com/office/officeart/2005/8/layout/list1"/>
    <dgm:cxn modelId="{5447C780-ED47-5640-B764-959D9C5D91F5}" type="presParOf" srcId="{FFCA8C06-39C6-3243-9AFB-7957C9D7427C}" destId="{B4CD1968-7FAE-5F41-9348-A8897EDDD4FC}" srcOrd="0" destOrd="0" presId="urn:microsoft.com/office/officeart/2005/8/layout/list1"/>
    <dgm:cxn modelId="{7779FEE3-7A65-594E-8CAB-4EF13C212AF8}" type="presParOf" srcId="{FFCA8C06-39C6-3243-9AFB-7957C9D7427C}" destId="{A88BB135-CAA3-0E40-B2C3-4B28802939BC}" srcOrd="1" destOrd="0" presId="urn:microsoft.com/office/officeart/2005/8/layout/list1"/>
    <dgm:cxn modelId="{E8427886-E4E3-AD43-9AFC-5B30131FEF55}" type="presParOf" srcId="{03232A83-BE71-464C-93DF-585638E2F4AC}" destId="{2C643D85-5955-194C-B45F-82001B55E3DA}" srcOrd="5" destOrd="0" presId="urn:microsoft.com/office/officeart/2005/8/layout/list1"/>
    <dgm:cxn modelId="{C5FD26E1-2FF6-C540-A809-A7223797F56D}" type="presParOf" srcId="{03232A83-BE71-464C-93DF-585638E2F4AC}" destId="{D1CDA92B-1482-4D4E-990D-D4C6D8E9DB12}" srcOrd="6" destOrd="0" presId="urn:microsoft.com/office/officeart/2005/8/layout/list1"/>
    <dgm:cxn modelId="{3FE3EB9C-234D-8046-8459-F528D816B6EA}" type="presParOf" srcId="{03232A83-BE71-464C-93DF-585638E2F4AC}" destId="{9ACF10C3-BFC1-F94C-B9DE-CD7DFCE91055}" srcOrd="7" destOrd="0" presId="urn:microsoft.com/office/officeart/2005/8/layout/list1"/>
    <dgm:cxn modelId="{6141B0DB-C82F-574B-9F26-B2E7B956397B}" type="presParOf" srcId="{03232A83-BE71-464C-93DF-585638E2F4AC}" destId="{F507770D-81B3-284F-AC0D-44A05CB016AD}" srcOrd="8" destOrd="0" presId="urn:microsoft.com/office/officeart/2005/8/layout/list1"/>
    <dgm:cxn modelId="{885F5256-8F3A-B642-BF81-A99302EE57F7}" type="presParOf" srcId="{F507770D-81B3-284F-AC0D-44A05CB016AD}" destId="{F0E6E97B-1405-4E40-B5AE-A322AFF86EA7}" srcOrd="0" destOrd="0" presId="urn:microsoft.com/office/officeart/2005/8/layout/list1"/>
    <dgm:cxn modelId="{9D48CA40-E42F-724F-9E69-7B4E4EE521FE}" type="presParOf" srcId="{F507770D-81B3-284F-AC0D-44A05CB016AD}" destId="{EE3C6285-3D2F-8B45-9849-CBA63ADDD03D}" srcOrd="1" destOrd="0" presId="urn:microsoft.com/office/officeart/2005/8/layout/list1"/>
    <dgm:cxn modelId="{A76AF762-E8B3-724F-AD0A-2FB206954290}" type="presParOf" srcId="{03232A83-BE71-464C-93DF-585638E2F4AC}" destId="{71E221CB-C28F-7C49-B41F-2C394622844E}" srcOrd="9" destOrd="0" presId="urn:microsoft.com/office/officeart/2005/8/layout/list1"/>
    <dgm:cxn modelId="{1C46B1A1-8205-3D42-A5F9-A6CF98184949}" type="presParOf" srcId="{03232A83-BE71-464C-93DF-585638E2F4AC}" destId="{F31D8390-7A49-814C-AABC-FFF500A607C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C3246-6D12-424F-A64F-FE7F8BD57564}">
      <dsp:nvSpPr>
        <dsp:cNvPr id="0" name=""/>
        <dsp:cNvSpPr/>
      </dsp:nvSpPr>
      <dsp:spPr>
        <a:xfrm>
          <a:off x="0" y="12095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D6416-CE74-BE4C-BD7F-658ADAF9B36B}">
      <dsp:nvSpPr>
        <dsp:cNvPr id="0" name=""/>
        <dsp:cNvSpPr/>
      </dsp:nvSpPr>
      <dsp:spPr>
        <a:xfrm>
          <a:off x="333341" y="7667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K8s Cluster Components</a:t>
          </a:r>
        </a:p>
      </dsp:txBody>
      <dsp:txXfrm>
        <a:off x="376572" y="809991"/>
        <a:ext cx="4580321" cy="799138"/>
      </dsp:txXfrm>
    </dsp:sp>
    <dsp:sp modelId="{D1CDA92B-1482-4D4E-990D-D4C6D8E9DB12}">
      <dsp:nvSpPr>
        <dsp:cNvPr id="0" name=""/>
        <dsp:cNvSpPr/>
      </dsp:nvSpPr>
      <dsp:spPr>
        <a:xfrm>
          <a:off x="0" y="25703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BB135-CAA3-0E40-B2C3-4B28802939BC}">
      <dsp:nvSpPr>
        <dsp:cNvPr id="0" name=""/>
        <dsp:cNvSpPr/>
      </dsp:nvSpPr>
      <dsp:spPr>
        <a:xfrm>
          <a:off x="333341" y="21275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Cluster State Restore</a:t>
          </a:r>
        </a:p>
      </dsp:txBody>
      <dsp:txXfrm>
        <a:off x="376572" y="2170791"/>
        <a:ext cx="4580321" cy="799138"/>
      </dsp:txXfrm>
    </dsp:sp>
    <dsp:sp modelId="{F31D8390-7A49-814C-AABC-FFF500A607C9}">
      <dsp:nvSpPr>
        <dsp:cNvPr id="0" name=""/>
        <dsp:cNvSpPr/>
      </dsp:nvSpPr>
      <dsp:spPr>
        <a:xfrm>
          <a:off x="0" y="39311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C6285-3D2F-8B45-9849-CBA63ADDD03D}">
      <dsp:nvSpPr>
        <dsp:cNvPr id="0" name=""/>
        <dsp:cNvSpPr/>
      </dsp:nvSpPr>
      <dsp:spPr>
        <a:xfrm>
          <a:off x="333341" y="34883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Cilium </a:t>
          </a:r>
        </a:p>
      </dsp:txBody>
      <dsp:txXfrm>
        <a:off x="376572" y="3531590"/>
        <a:ext cx="4580321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C6905-EE12-514E-B3FB-774D356929D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F9DFB-1F5E-7F4F-8751-8393EF433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9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131A-91CF-CD6E-6C63-1BF136DFC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BBA2F-BF7E-375C-6214-6EA7B1A30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4C0AA-70D3-F57D-40F8-E359F778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F554-EC0E-ADD8-4125-3D7E1217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B62FA-C688-BC3E-D807-8D37EDE5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0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2A2F-B050-D474-37C9-8297E50E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7FA5-466E-6E88-36F8-460B77B8A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734DA-DE2D-A7CE-E96D-E8E38719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621FD-4749-B8EF-7728-D559D225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D9FC7-AF7F-78B6-3D20-FFA3CDAB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0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FEC3-56EE-0B08-E753-48182C816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252F8-2D37-8E32-6473-E1A6698DD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1D76-6219-AB49-71C9-44D0C7E3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3767-100F-9236-9352-46E417E8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457FF-66C2-6317-C6DA-FD7F22EB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1BA8-DE81-8F5F-DA6E-BC24A69B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45B34-4386-1105-CE8F-9BA738D4A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14B20-1EEC-8A41-09D7-D5BFA6FD3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FC76D-5513-8F7F-5984-193950C1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21368-B3E5-8A7F-C6FA-8DB2AC4C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D65F2-429D-1BBF-5B4E-F8FBDBB1A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2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C133-1AF9-6372-A82D-A5090BDA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446E6-C070-E868-67E7-C4B53DABE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E54D3-FE4F-5FAC-955C-B5B2A2625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3FE85-0FD7-559C-FAC3-1D3730E7C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46707-890B-3F60-C8D8-3D5189042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BA866-83FF-DA60-4B92-4B42245E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08452-8AEB-FA7E-3B7C-B1BC8CB2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59594-58FB-3A34-7B7B-023F9D46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6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92FE-1BAA-4E0A-BE0B-A1C51B69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2C227-BD81-6C53-A940-ED015F99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C40C5-8EFB-B605-C581-CB03903E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40C1C-2D59-0882-4464-7C0A733A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8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C1A72-EA51-8E6B-6200-89879219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94B60-0820-290C-E0B3-EF4E6536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B4BBC-6275-BFC3-5931-756AB46D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19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6525-7841-8797-A131-BCB607F11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02C64-30F1-2F09-EB47-77D38D9F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15EAD-FED5-6D05-4EA0-99976F862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B0F89-8F6C-CBED-670C-E70E87C7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A5110-4565-91CA-2C52-ECC706D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C9C68-E392-5ABF-F8DE-4D0AC33E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2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016C-DEBF-F500-62D7-F1093115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1778EC-882B-5EE3-C594-1C9C53A2C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EA7E6-F782-54CC-23E1-EC70D36E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4FA34-1F9C-5865-A2B2-DEF0D0E3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FB37B-2BB4-A40E-36A3-3BC57AED2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11569-AA66-0A07-A03C-9462431E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1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4AF2-4001-D0AA-C1E4-E318F0B0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EADD1-4898-287A-376F-163C403C1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78A1A-D32A-F62E-CA88-114CC3F7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398A-B593-DB91-A9B0-5D814A05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F6320-3FDF-C660-23EE-F973F3573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6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51FF0-8151-1978-A5F5-CAD1C13FC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A38F5-DF5F-D5CD-BE5A-89EE808BC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0DC01-48DF-0216-0753-EFF4B3ED8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ED06B-5D1A-9405-4E97-7E9F3275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6E56C-926C-1905-3EC3-3121DA64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3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6B6B8-149D-A066-20DE-B46EAA9B6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A7C4-0C61-32A3-5A09-D076F7C94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25C8E-78C3-650E-AA38-47019104F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025CB-CF26-7E40-82DC-E268CF955B5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398F2-14DB-34FA-7B98-86F3D3B34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89668-B95E-42DC-42B4-3C211496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F53DE-FDD3-194E-B672-711B5517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9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AC8A0-C2BD-35EA-08F2-DF608BEB0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Week 3 </a:t>
            </a:r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85D8D-379E-7D02-D2BA-9F8CE5516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IN" b="1" dirty="0">
                <a:solidFill>
                  <a:srgbClr val="FFFFFF"/>
                </a:solidFill>
              </a:rPr>
              <a:t>Autoscaling in Kubernetes: HPA, VPA, KEDA, and Node Scaling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113" name="Oval 4112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Storage scale-up vs. scale-out - vInfrastructure Blog">
            <a:extLst>
              <a:ext uri="{FF2B5EF4-FFF2-40B4-BE49-F238E27FC236}">
                <a16:creationId xmlns:a16="http://schemas.microsoft.com/office/drawing/2014/main" id="{D6C3D841-D4FD-AC72-7F62-12CDEB101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567168"/>
            <a:ext cx="3737164" cy="173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044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5F8DD-4C94-7F99-ED25-60247A90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Recap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1FAACE-A278-0DE6-0592-4873378E5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91534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708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28,000+ Presentation Agenda Stock Photos, Pictures &amp; Royalty-Free Images -  iStock | Meeting agenda, Powerpoint, Presentation board">
            <a:extLst>
              <a:ext uri="{FF2B5EF4-FFF2-40B4-BE49-F238E27FC236}">
                <a16:creationId xmlns:a16="http://schemas.microsoft.com/office/drawing/2014/main" id="{FFC829C9-272E-E46A-8CA2-573689F3E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4" r="24639"/>
          <a:stretch>
            <a:fillRect/>
          </a:stretch>
        </p:blipFill>
        <p:spPr bwMode="auto">
          <a:xfrm>
            <a:off x="20" y="10"/>
            <a:ext cx="739024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7" name="Rectangle 7176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174" name="Content Placeholder 7173">
            <a:extLst>
              <a:ext uri="{FF2B5EF4-FFF2-40B4-BE49-F238E27FC236}">
                <a16:creationId xmlns:a16="http://schemas.microsoft.com/office/drawing/2014/main" id="{9E6FC1ED-9E91-024E-05A7-13C7BB6D8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718" y="268941"/>
            <a:ext cx="3757494" cy="5712367"/>
          </a:xfrm>
        </p:spPr>
        <p:txBody>
          <a:bodyPr anchor="t">
            <a:normAutofit lnSpcReduction="10000"/>
          </a:bodyPr>
          <a:lstStyle/>
          <a:p>
            <a:pPr>
              <a:buFont typeface="Wingdings" pitchFamily="2" charset="2"/>
              <a:buChar char="ü"/>
            </a:pPr>
            <a:endParaRPr lang="en-US" sz="2000" dirty="0"/>
          </a:p>
          <a:p>
            <a:pPr>
              <a:buFont typeface="Wingdings" pitchFamily="2" charset="2"/>
              <a:buChar char="ü"/>
            </a:pPr>
            <a:r>
              <a:rPr lang="en-IN" dirty="0"/>
              <a:t>HPA (Horizontal Pod </a:t>
            </a:r>
            <a:r>
              <a:rPr lang="en-IN" dirty="0" err="1"/>
              <a:t>Autoscaler</a:t>
            </a:r>
            <a:r>
              <a:rPr lang="en-IN" dirty="0"/>
              <a:t>) - Demo</a:t>
            </a:r>
          </a:p>
          <a:p>
            <a:pPr>
              <a:buFont typeface="Wingdings" pitchFamily="2" charset="2"/>
              <a:buChar char="ü"/>
            </a:pPr>
            <a:r>
              <a:rPr lang="en-IN" dirty="0"/>
              <a:t>VPA (Vertical Pod </a:t>
            </a:r>
            <a:r>
              <a:rPr lang="en-IN" dirty="0" err="1"/>
              <a:t>Autoscaler</a:t>
            </a:r>
            <a:r>
              <a:rPr lang="en-IN" dirty="0"/>
              <a:t>) – Demo </a:t>
            </a:r>
          </a:p>
          <a:p>
            <a:pPr>
              <a:buFont typeface="Wingdings" pitchFamily="2" charset="2"/>
              <a:buChar char="ü"/>
            </a:pPr>
            <a:r>
              <a:rPr lang="en-IN" dirty="0"/>
              <a:t>Cluster </a:t>
            </a:r>
            <a:r>
              <a:rPr lang="en-IN" dirty="0" err="1"/>
              <a:t>Autoscaler</a:t>
            </a:r>
            <a:endParaRPr lang="en-IN" dirty="0"/>
          </a:p>
          <a:p>
            <a:pPr>
              <a:buFont typeface="Wingdings" pitchFamily="2" charset="2"/>
              <a:buChar char="ü"/>
            </a:pPr>
            <a:r>
              <a:rPr lang="en-IN" dirty="0" err="1"/>
              <a:t>Karpenter</a:t>
            </a:r>
            <a:endParaRPr lang="en-IN" dirty="0"/>
          </a:p>
          <a:p>
            <a:pPr>
              <a:buFont typeface="Wingdings" pitchFamily="2" charset="2"/>
              <a:buChar char="ü"/>
            </a:pPr>
            <a:r>
              <a:rPr lang="en-IN" dirty="0"/>
              <a:t>KEDA (event-driven autoscaling) - Demo</a:t>
            </a:r>
          </a:p>
          <a:p>
            <a:pPr>
              <a:buFont typeface="Wingdings" pitchFamily="2" charset="2"/>
              <a:buChar char="ü"/>
            </a:pPr>
            <a:r>
              <a:rPr lang="en-IN" dirty="0"/>
              <a:t>Choosing the right scaler + common pitfalls</a:t>
            </a:r>
          </a:p>
        </p:txBody>
      </p:sp>
    </p:spTree>
    <p:extLst>
      <p:ext uri="{BB962C8B-B14F-4D97-AF65-F5344CB8AC3E}">
        <p14:creationId xmlns:p14="http://schemas.microsoft.com/office/powerpoint/2010/main" val="2147079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8041-1849-51DC-3925-EAA6BE6B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Services</a:t>
            </a:r>
          </a:p>
        </p:txBody>
      </p:sp>
      <p:pic>
        <p:nvPicPr>
          <p:cNvPr id="5" name="Content Placeholder 4" descr="A diagram of a service&#10;&#10;AI-generated content may be incorrect.">
            <a:extLst>
              <a:ext uri="{FF2B5EF4-FFF2-40B4-BE49-F238E27FC236}">
                <a16:creationId xmlns:a16="http://schemas.microsoft.com/office/drawing/2014/main" id="{2BC9B37B-81E8-01CA-6ACA-1298C4D62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1922" y="1825625"/>
            <a:ext cx="8908155" cy="4351338"/>
          </a:xfrm>
        </p:spPr>
      </p:pic>
    </p:spTree>
    <p:extLst>
      <p:ext uri="{BB962C8B-B14F-4D97-AF65-F5344CB8AC3E}">
        <p14:creationId xmlns:p14="http://schemas.microsoft.com/office/powerpoint/2010/main" val="73059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5CC85-DD4A-A183-C49B-1DEAF669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Horizontal Pod Autoscaler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AEC54-C802-49FE-67DC-8E3910FB0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000" b="1" dirty="0"/>
              <a:t>Scope:</a:t>
            </a:r>
          </a:p>
          <a:p>
            <a:pPr marL="457200" lvl="1"/>
            <a:r>
              <a:rPr lang="en-US" sz="2000" dirty="0"/>
              <a:t>Deployment/</a:t>
            </a:r>
            <a:r>
              <a:rPr lang="en-US" sz="2000" dirty="0" err="1"/>
              <a:t>ReplicaSet</a:t>
            </a:r>
            <a:r>
              <a:rPr lang="en-US" sz="2000" dirty="0"/>
              <a:t>/</a:t>
            </a:r>
            <a:r>
              <a:rPr lang="en-US" sz="2000" dirty="0" err="1"/>
              <a:t>StatefulSet</a:t>
            </a:r>
            <a:endParaRPr lang="en-US" sz="2000" dirty="0"/>
          </a:p>
          <a:p>
            <a:pPr marL="0"/>
            <a:r>
              <a:rPr lang="en-US" sz="2000" b="1" dirty="0"/>
              <a:t>Based on metrics:</a:t>
            </a:r>
          </a:p>
          <a:p>
            <a:pPr lvl="1"/>
            <a:r>
              <a:rPr lang="en-US" sz="2000" dirty="0"/>
              <a:t>CPU/Memory (resource metrics)</a:t>
            </a:r>
          </a:p>
          <a:p>
            <a:pPr lvl="1"/>
            <a:r>
              <a:rPr lang="en-US" sz="2000" dirty="0"/>
              <a:t>Custom metrics / External metrics (via Prometheus adapter, etc.)</a:t>
            </a:r>
          </a:p>
          <a:p>
            <a:pPr marL="0"/>
            <a:r>
              <a:rPr lang="en-US" sz="2000" b="1" dirty="0"/>
              <a:t>Key settings:</a:t>
            </a:r>
          </a:p>
          <a:p>
            <a:pPr lvl="1"/>
            <a:r>
              <a:rPr lang="en-US" sz="2000" dirty="0" err="1"/>
              <a:t>minReplicas</a:t>
            </a:r>
            <a:r>
              <a:rPr lang="en-US" sz="2000" dirty="0"/>
              <a:t> / </a:t>
            </a:r>
            <a:r>
              <a:rPr lang="en-US" sz="2000" dirty="0" err="1"/>
              <a:t>maxReplicas</a:t>
            </a:r>
            <a:endParaRPr lang="en-US" sz="2000" dirty="0"/>
          </a:p>
          <a:p>
            <a:pPr lvl="1"/>
            <a:r>
              <a:rPr lang="en-US" sz="2000" dirty="0"/>
              <a:t>target utilization or target value</a:t>
            </a:r>
          </a:p>
          <a:p>
            <a:pPr marL="0"/>
            <a:r>
              <a:rPr lang="en-US" sz="2000" b="1" dirty="0"/>
              <a:t>Best for: </a:t>
            </a:r>
            <a:r>
              <a:rPr lang="en-US" sz="2000" dirty="0"/>
              <a:t>stateless services, web APIs</a:t>
            </a:r>
          </a:p>
          <a:p>
            <a:endParaRPr lang="en-US" sz="2000" dirty="0"/>
          </a:p>
        </p:txBody>
      </p:sp>
      <p:pic>
        <p:nvPicPr>
          <p:cNvPr id="5" name="Content Placeholder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6AF23A87-C3F3-1E2A-A102-4459A3680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643" y="640080"/>
            <a:ext cx="508977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01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1B79C-2733-F54E-AFD2-FD5B7695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dirty="0"/>
              <a:t>Vertical Pod </a:t>
            </a:r>
            <a:r>
              <a:rPr lang="en-US" sz="5000" dirty="0" err="1"/>
              <a:t>Autoscaler</a:t>
            </a:r>
            <a:endParaRPr lang="en-US" sz="50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BEDAD-78D5-4321-9648-D3B0D75E5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IN" sz="1400" b="1" dirty="0"/>
              <a:t>Adjusts pod resource requests</a:t>
            </a:r>
            <a:r>
              <a:rPr lang="en-IN" sz="1400" dirty="0"/>
              <a:t> (CPU/memory)</a:t>
            </a:r>
          </a:p>
          <a:p>
            <a:r>
              <a:rPr lang="en-IN" sz="1400" dirty="0"/>
              <a:t>Components:</a:t>
            </a:r>
          </a:p>
          <a:p>
            <a:pPr lvl="1"/>
            <a:r>
              <a:rPr lang="en-IN" sz="1400" b="1" dirty="0"/>
              <a:t>Recommender</a:t>
            </a:r>
            <a:r>
              <a:rPr lang="en-IN" sz="1400" dirty="0"/>
              <a:t> (calculates)</a:t>
            </a:r>
          </a:p>
          <a:p>
            <a:pPr lvl="1"/>
            <a:r>
              <a:rPr lang="en-IN" sz="1400" b="1" dirty="0"/>
              <a:t>Admission Controller</a:t>
            </a:r>
            <a:r>
              <a:rPr lang="en-IN" sz="1400" dirty="0"/>
              <a:t> (mutates pod on creation)</a:t>
            </a:r>
          </a:p>
          <a:p>
            <a:pPr lvl="1"/>
            <a:r>
              <a:rPr lang="en-IN" sz="1400" b="1" dirty="0"/>
              <a:t>Updater</a:t>
            </a:r>
            <a:r>
              <a:rPr lang="en-IN" sz="1400" dirty="0"/>
              <a:t> (evicts pods so they restart with new requests)</a:t>
            </a:r>
          </a:p>
          <a:p>
            <a:r>
              <a:rPr lang="en-IN" sz="1400" dirty="0"/>
              <a:t>Modes:</a:t>
            </a:r>
          </a:p>
          <a:p>
            <a:pPr lvl="1"/>
            <a:r>
              <a:rPr lang="en-IN" sz="1400" dirty="0"/>
              <a:t>Off (recommend only)</a:t>
            </a:r>
          </a:p>
          <a:p>
            <a:pPr lvl="1"/>
            <a:r>
              <a:rPr lang="en-IN" sz="1400" dirty="0"/>
              <a:t>Initial (set on first pod create)</a:t>
            </a:r>
          </a:p>
          <a:p>
            <a:pPr lvl="1"/>
            <a:r>
              <a:rPr lang="en-IN" sz="1400" dirty="0"/>
              <a:t>Auto (apply + evict/recreate)</a:t>
            </a:r>
          </a:p>
          <a:p>
            <a:r>
              <a:rPr lang="en-IN" sz="1400" dirty="0"/>
              <a:t>Best for: batch jobs, services with stable usage patterns</a:t>
            </a:r>
          </a:p>
          <a:p>
            <a:r>
              <a:rPr lang="en-IN" sz="1400" dirty="0"/>
              <a:t>Important: VPA changes </a:t>
            </a:r>
            <a:r>
              <a:rPr lang="en-IN" sz="1400" b="1" dirty="0"/>
              <a:t>requests</a:t>
            </a:r>
            <a:r>
              <a:rPr lang="en-IN" sz="1400" dirty="0"/>
              <a:t>, not replicas</a:t>
            </a:r>
          </a:p>
        </p:txBody>
      </p:sp>
      <p:pic>
        <p:nvPicPr>
          <p:cNvPr id="5" name="Picture 4" descr="A diagram of a circular arrow&#10;&#10;AI-generated content may be incorrect.">
            <a:extLst>
              <a:ext uri="{FF2B5EF4-FFF2-40B4-BE49-F238E27FC236}">
                <a16:creationId xmlns:a16="http://schemas.microsoft.com/office/drawing/2014/main" id="{2929CA6F-3AB8-1809-5918-A34D48475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002845"/>
            <a:ext cx="5458968" cy="285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2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BDE7-6D3E-1270-9B21-29FE6DBD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HPA and VPA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5FD0ED-5C14-E6FF-5F06-052758F78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419768"/>
              </p:ext>
            </p:extLst>
          </p:nvPr>
        </p:nvGraphicFramePr>
        <p:xfrm>
          <a:off x="1452282" y="1936375"/>
          <a:ext cx="8471646" cy="429388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823882">
                  <a:extLst>
                    <a:ext uri="{9D8B030D-6E8A-4147-A177-3AD203B41FA5}">
                      <a16:colId xmlns:a16="http://schemas.microsoft.com/office/drawing/2014/main" val="1075932693"/>
                    </a:ext>
                  </a:extLst>
                </a:gridCol>
                <a:gridCol w="2823882">
                  <a:extLst>
                    <a:ext uri="{9D8B030D-6E8A-4147-A177-3AD203B41FA5}">
                      <a16:colId xmlns:a16="http://schemas.microsoft.com/office/drawing/2014/main" val="1818172486"/>
                    </a:ext>
                  </a:extLst>
                </a:gridCol>
                <a:gridCol w="2823882">
                  <a:extLst>
                    <a:ext uri="{9D8B030D-6E8A-4147-A177-3AD203B41FA5}">
                      <a16:colId xmlns:a16="http://schemas.microsoft.com/office/drawing/2014/main" val="1246239012"/>
                    </a:ext>
                  </a:extLst>
                </a:gridCol>
              </a:tblGrid>
              <a:tr h="29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effectLst/>
                        </a:rPr>
                        <a:t>Aspect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effectLst/>
                        </a:rPr>
                        <a:t>HPA (Horizontal Pod Autoscaler)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effectLst/>
                        </a:rPr>
                        <a:t>VPA (Vertical Pod </a:t>
                      </a:r>
                      <a:r>
                        <a:rPr lang="en-IN" sz="800" b="1" dirty="0" err="1">
                          <a:effectLst/>
                        </a:rPr>
                        <a:t>Autoscaler</a:t>
                      </a:r>
                      <a:r>
                        <a:rPr lang="en-IN" sz="800" b="1" dirty="0">
                          <a:effectLst/>
                        </a:rPr>
                        <a:t>)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3778926414"/>
                  </a:ext>
                </a:extLst>
              </a:tr>
              <a:tr h="416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What it scales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effectLst/>
                        </a:rPr>
                        <a:t>Number of pods (replicas)</a:t>
                      </a:r>
                      <a:endParaRPr lang="en-IN" sz="800" dirty="0">
                        <a:effectLst/>
                      </a:endParaRP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effectLst/>
                        </a:rPr>
                        <a:t>Pod size</a:t>
                      </a:r>
                      <a:r>
                        <a:rPr lang="en-IN" sz="800" dirty="0">
                          <a:effectLst/>
                        </a:rPr>
                        <a:t> by adjusting </a:t>
                      </a:r>
                      <a:r>
                        <a:rPr lang="en-IN" sz="800" b="1" dirty="0">
                          <a:effectLst/>
                        </a:rPr>
                        <a:t>container resource requests</a:t>
                      </a:r>
                      <a:r>
                        <a:rPr lang="en-IN" sz="800" dirty="0">
                          <a:effectLst/>
                        </a:rPr>
                        <a:t> (CPU/memory)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1379375304"/>
                  </a:ext>
                </a:extLst>
              </a:tr>
              <a:tr h="29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Effect (simple)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effectLst/>
                        </a:rPr>
                        <a:t>More pods</a:t>
                      </a:r>
                      <a:r>
                        <a:rPr lang="en-IN" sz="800" dirty="0">
                          <a:effectLst/>
                        </a:rPr>
                        <a:t> when load increases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effectLst/>
                        </a:rPr>
                        <a:t>Bigger/smaller pods</a:t>
                      </a:r>
                      <a:r>
                        <a:rPr lang="en-IN" sz="800" dirty="0">
                          <a:effectLst/>
                        </a:rPr>
                        <a:t> based on observed usage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2278596653"/>
                  </a:ext>
                </a:extLst>
              </a:tr>
              <a:tr h="416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Primary goal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Handle varying load by spreading work across replicas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Right-size requests to improve scheduling + reduce waste / avoid OOM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1081095401"/>
                  </a:ext>
                </a:extLst>
              </a:tr>
              <a:tr h="53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Metrics behavior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Needs a metrics pipeline; typically </a:t>
                      </a:r>
                      <a:r>
                        <a:rPr lang="en-IN" sz="800" b="1" dirty="0">
                          <a:effectLst/>
                        </a:rPr>
                        <a:t>reacts quickly</a:t>
                      </a:r>
                      <a:r>
                        <a:rPr lang="en-IN" sz="800" dirty="0">
                          <a:effectLst/>
                        </a:rPr>
                        <a:t> to changes (near real-time depending on metrics resolution)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Needs </a:t>
                      </a:r>
                      <a:r>
                        <a:rPr lang="en-IN" sz="800" b="1">
                          <a:effectLst/>
                        </a:rPr>
                        <a:t>longer observation window</a:t>
                      </a:r>
                      <a:r>
                        <a:rPr lang="en-IN" sz="800">
                          <a:effectLst/>
                        </a:rPr>
                        <a:t> to generate stable recommendations (minutes to hours depending on workload)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2536498118"/>
                  </a:ext>
                </a:extLst>
              </a:tr>
              <a:tr h="592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What you “watch” to validate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>
                          <a:effectLst/>
                        </a:rPr>
                        <a:t>kubectl</a:t>
                      </a:r>
                      <a:r>
                        <a:rPr lang="en-IN" sz="800" dirty="0">
                          <a:effectLst/>
                        </a:rPr>
                        <a:t> get </a:t>
                      </a:r>
                      <a:r>
                        <a:rPr lang="en-IN" sz="800" dirty="0" err="1">
                          <a:effectLst/>
                        </a:rPr>
                        <a:t>hpa</a:t>
                      </a:r>
                      <a:r>
                        <a:rPr lang="en-IN" sz="800" dirty="0">
                          <a:effectLst/>
                        </a:rPr>
                        <a:t> -w shows replicas changing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Pod </a:t>
                      </a:r>
                      <a:r>
                        <a:rPr lang="en-IN" sz="800" b="1">
                          <a:effectLst/>
                        </a:rPr>
                        <a:t>requests</a:t>
                      </a:r>
                      <a:r>
                        <a:rPr lang="en-IN" sz="800">
                          <a:effectLst/>
                        </a:rPr>
                        <a:t> changing after restart/eviction; kubectl describe vpa shows recommendation targets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2685998377"/>
                  </a:ext>
                </a:extLst>
              </a:tr>
              <a:tr h="53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How changes take effect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HPA updates spec.replicas on the target workload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VPA applies via </a:t>
                      </a:r>
                      <a:r>
                        <a:rPr lang="en-IN" sz="800" b="1">
                          <a:effectLst/>
                        </a:rPr>
                        <a:t>admission controller on pod creation</a:t>
                      </a:r>
                      <a:r>
                        <a:rPr lang="en-IN" sz="800">
                          <a:effectLst/>
                        </a:rPr>
                        <a:t>; in Auto it may </a:t>
                      </a:r>
                      <a:r>
                        <a:rPr lang="en-IN" sz="800" b="1">
                          <a:effectLst/>
                        </a:rPr>
                        <a:t>evict/recreate</a:t>
                      </a:r>
                      <a:r>
                        <a:rPr lang="en-IN" sz="800">
                          <a:effectLst/>
                        </a:rPr>
                        <a:t> pods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2980445612"/>
                  </a:ext>
                </a:extLst>
              </a:tr>
              <a:tr h="53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Main pitfall (together)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Using HPA + VPA on the same workload is OK </a:t>
                      </a:r>
                      <a:r>
                        <a:rPr lang="en-IN" sz="800" b="1" dirty="0">
                          <a:effectLst/>
                        </a:rPr>
                        <a:t>only with care</a:t>
                      </a:r>
                      <a:endParaRPr lang="en-IN" sz="800" dirty="0">
                        <a:effectLst/>
                      </a:endParaRP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effectLst/>
                        </a:rPr>
                        <a:t>Avoid VPA + HPA on CPU for the same workload</a:t>
                      </a:r>
                      <a:r>
                        <a:rPr lang="en-IN" sz="800">
                          <a:effectLst/>
                        </a:rPr>
                        <a:t> (feedback loop: VPA changes requests, HPA uses CPU% of requests → can “fight”)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13384055"/>
                  </a:ext>
                </a:extLst>
              </a:tr>
              <a:tr h="66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Common safe pattern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effectLst/>
                        </a:rPr>
                        <a:t>HPA for CPU</a:t>
                      </a:r>
                      <a:r>
                        <a:rPr lang="en-IN" sz="800">
                          <a:effectLst/>
                        </a:rPr>
                        <a:t> (replicas)</a:t>
                      </a:r>
                    </a:p>
                  </a:txBody>
                  <a:tcPr marL="56522" marR="56522" marT="26087" marB="260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effectLst/>
                        </a:rPr>
                        <a:t>VPA for memory</a:t>
                      </a:r>
                      <a:r>
                        <a:rPr lang="en-IN" sz="800" dirty="0">
                          <a:effectLst/>
                        </a:rPr>
                        <a:t> (right-size) + set VPA </a:t>
                      </a:r>
                      <a:r>
                        <a:rPr lang="en-IN" sz="800" dirty="0" err="1">
                          <a:effectLst/>
                        </a:rPr>
                        <a:t>controlledResources</a:t>
                      </a:r>
                      <a:r>
                        <a:rPr lang="en-IN" sz="800" dirty="0">
                          <a:effectLst/>
                        </a:rPr>
                        <a:t> to memory only (or use VPA recommendations in Off mode first)</a:t>
                      </a:r>
                    </a:p>
                  </a:txBody>
                  <a:tcPr marL="56522" marR="56522" marT="26087" marB="26087" anchor="ctr"/>
                </a:tc>
                <a:extLst>
                  <a:ext uri="{0D108BD9-81ED-4DB2-BD59-A6C34878D82A}">
                    <a16:rowId xmlns:a16="http://schemas.microsoft.com/office/drawing/2014/main" val="282964944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251C4F0-665B-D20B-B201-B8F8A7B0E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698955" y="-25108"/>
            <a:ext cx="21517822" cy="5176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Copilot said: | Aspect | HPA (Horizontal Pod Autoscaler)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079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D9B93-49A8-E455-5587-E3F23BFD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Scaling – Cluster </a:t>
            </a:r>
            <a:r>
              <a:rPr lang="en-US" dirty="0" err="1"/>
              <a:t>AutoScaler</a:t>
            </a:r>
            <a:r>
              <a:rPr lang="en-US" dirty="0"/>
              <a:t> ( Cloud 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72AA4-A947-E7B0-9B67-D4291F826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71529" cy="4351338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Cluster </a:t>
            </a:r>
            <a:r>
              <a:rPr lang="en-IN" b="1" dirty="0" err="1"/>
              <a:t>Autoscaler</a:t>
            </a:r>
            <a:r>
              <a:rPr lang="en-IN" b="1" dirty="0"/>
              <a:t> (CA)</a:t>
            </a:r>
          </a:p>
          <a:p>
            <a:r>
              <a:rPr lang="en-IN" dirty="0"/>
              <a:t>Scales node groups (ASGs / MIGs / node pools)</a:t>
            </a:r>
          </a:p>
          <a:p>
            <a:r>
              <a:rPr lang="en-IN" dirty="0"/>
              <a:t>Adds nodes when:</a:t>
            </a:r>
          </a:p>
          <a:p>
            <a:pPr lvl="1"/>
            <a:r>
              <a:rPr lang="en-IN" dirty="0"/>
              <a:t>pods are </a:t>
            </a:r>
            <a:r>
              <a:rPr lang="en-IN" b="1" dirty="0"/>
              <a:t>Pending</a:t>
            </a:r>
            <a:r>
              <a:rPr lang="en-IN" dirty="0"/>
              <a:t> due to insufficient resources</a:t>
            </a:r>
          </a:p>
          <a:p>
            <a:r>
              <a:rPr lang="en-IN" dirty="0"/>
              <a:t>Removes nodes when:</a:t>
            </a:r>
          </a:p>
          <a:p>
            <a:pPr lvl="1"/>
            <a:r>
              <a:rPr lang="en-IN" dirty="0"/>
              <a:t>nodes are underutilized and pods can be moved</a:t>
            </a:r>
          </a:p>
          <a:p>
            <a:r>
              <a:rPr lang="en-IN" dirty="0"/>
              <a:t>Pros:</a:t>
            </a:r>
          </a:p>
          <a:p>
            <a:pPr lvl="1"/>
            <a:r>
              <a:rPr lang="en-IN" dirty="0"/>
              <a:t>Mature, widely supported</a:t>
            </a:r>
          </a:p>
          <a:p>
            <a:r>
              <a:rPr lang="en-IN" dirty="0"/>
              <a:t>Cons:</a:t>
            </a:r>
          </a:p>
          <a:p>
            <a:pPr lvl="1"/>
            <a:r>
              <a:rPr lang="en-IN" dirty="0"/>
              <a:t>Limited by node group shapes; slower provisioning depending on cloud</a:t>
            </a:r>
          </a:p>
          <a:p>
            <a:endParaRPr lang="en-US" dirty="0"/>
          </a:p>
        </p:txBody>
      </p:sp>
      <p:pic>
        <p:nvPicPr>
          <p:cNvPr id="5" name="Picture 4" descr="A diagram of a cluster&#10;&#10;AI-generated content may be incorrect.">
            <a:extLst>
              <a:ext uri="{FF2B5EF4-FFF2-40B4-BE49-F238E27FC236}">
                <a16:creationId xmlns:a16="http://schemas.microsoft.com/office/drawing/2014/main" id="{2A9E4882-EA0A-9DD9-560F-D7241F29D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612" y="2147888"/>
            <a:ext cx="3949941" cy="33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3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6732-CA2A-976F-AF08-37682225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KEDA (Event-Driven Autoscaling)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73D59-41E0-54E3-17EA-51A13D0C64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Scales workloads based on </a:t>
            </a:r>
            <a:r>
              <a:rPr lang="en-IN" b="1" dirty="0"/>
              <a:t>events</a:t>
            </a:r>
            <a:r>
              <a:rPr lang="en-IN" dirty="0"/>
              <a:t>, not just CPU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Kafka lag, SQS queue depth, RabbitMQ, Prometheus metrics, HTTP, </a:t>
            </a:r>
            <a:r>
              <a:rPr lang="en-IN" dirty="0" err="1"/>
              <a:t>cron</a:t>
            </a:r>
            <a:endParaRPr lang="en-IN" dirty="0"/>
          </a:p>
          <a:p>
            <a:r>
              <a:rPr lang="en-IN" dirty="0"/>
              <a:t>Can scale:</a:t>
            </a:r>
          </a:p>
          <a:p>
            <a:pPr lvl="1"/>
            <a:r>
              <a:rPr lang="en-IN" dirty="0"/>
              <a:t>Deployments (via HPA under the hood)</a:t>
            </a:r>
          </a:p>
          <a:p>
            <a:pPr lvl="1"/>
            <a:r>
              <a:rPr lang="en-IN" dirty="0"/>
              <a:t>Scale-to-zero (including to 0 replicas)</a:t>
            </a:r>
          </a:p>
          <a:p>
            <a:r>
              <a:rPr lang="en-IN" dirty="0"/>
              <a:t>Good for:</a:t>
            </a:r>
          </a:p>
          <a:p>
            <a:pPr lvl="1"/>
            <a:r>
              <a:rPr lang="en-IN" dirty="0"/>
              <a:t>background workers / consumers</a:t>
            </a:r>
          </a:p>
          <a:p>
            <a:pPr lvl="1"/>
            <a:r>
              <a:rPr lang="en-IN" dirty="0"/>
              <a:t>cost optimization (scale to 0)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4A0E5-6F9F-719D-F54B-E7DC1EB82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339" y="1690688"/>
            <a:ext cx="5823473" cy="438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F842D-CA17-C325-0ECF-250058AF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07850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Node Scaling – </a:t>
            </a:r>
            <a:r>
              <a:rPr lang="en-US" dirty="0" err="1"/>
              <a:t>Karpenter</a:t>
            </a:r>
            <a:r>
              <a:rPr lang="en-US" dirty="0"/>
              <a:t>  ( cloud )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49F1BA-66D4-4A7B-FEC3-21D7FFAAA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3381"/>
            <a:ext cx="5455023" cy="3553581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IN" dirty="0"/>
              <a:t>Node provisioning “just-in-time”</a:t>
            </a:r>
          </a:p>
          <a:p>
            <a:r>
              <a:rPr lang="en-IN" dirty="0"/>
              <a:t>Chooses instance types dynamically (bin packing / cost-aware)</a:t>
            </a:r>
          </a:p>
          <a:p>
            <a:r>
              <a:rPr lang="en-IN" dirty="0"/>
              <a:t>Works great for:</a:t>
            </a:r>
          </a:p>
          <a:p>
            <a:pPr lvl="1"/>
            <a:r>
              <a:rPr lang="en-IN" dirty="0"/>
              <a:t>spiky workloads</a:t>
            </a:r>
          </a:p>
          <a:p>
            <a:pPr lvl="1"/>
            <a:r>
              <a:rPr lang="en-IN" dirty="0"/>
              <a:t>many instance type options</a:t>
            </a:r>
          </a:p>
          <a:p>
            <a:r>
              <a:rPr lang="en-IN" dirty="0"/>
              <a:t>Key concepts:</a:t>
            </a:r>
          </a:p>
          <a:p>
            <a:pPr lvl="1"/>
            <a:r>
              <a:rPr lang="en-IN" dirty="0"/>
              <a:t>Provisioners / </a:t>
            </a:r>
            <a:r>
              <a:rPr lang="en-IN" dirty="0" err="1"/>
              <a:t>NodePools</a:t>
            </a:r>
            <a:r>
              <a:rPr lang="en-IN" dirty="0"/>
              <a:t> (depending on version)</a:t>
            </a:r>
          </a:p>
          <a:p>
            <a:pPr lvl="1"/>
            <a:r>
              <a:rPr lang="en-IN" dirty="0"/>
              <a:t>Constraints: zones, instance families, capacity type (spot/on-demand)</a:t>
            </a:r>
          </a:p>
          <a:p>
            <a:r>
              <a:rPr lang="en-IN" dirty="0"/>
              <a:t>Compared to CA:</a:t>
            </a:r>
          </a:p>
          <a:p>
            <a:pPr lvl="1"/>
            <a:r>
              <a:rPr lang="en-IN" dirty="0"/>
              <a:t>Typically </a:t>
            </a:r>
            <a:r>
              <a:rPr lang="en-IN" b="1" dirty="0"/>
              <a:t>faster</a:t>
            </a:r>
            <a:r>
              <a:rPr lang="en-IN" dirty="0"/>
              <a:t> + more flexible</a:t>
            </a:r>
          </a:p>
          <a:p>
            <a:endParaRPr lang="en-US" sz="2000" dirty="0"/>
          </a:p>
        </p:txBody>
      </p:sp>
      <p:pic>
        <p:nvPicPr>
          <p:cNvPr id="6" name="Picture 5" descr="A diagram of a company's company's company's company's company's company's company's company's company's company's company's company'&#10;&#10;AI-generated content may be incorrect.">
            <a:extLst>
              <a:ext uri="{FF2B5EF4-FFF2-40B4-BE49-F238E27FC236}">
                <a16:creationId xmlns:a16="http://schemas.microsoft.com/office/drawing/2014/main" id="{842C1341-DE1E-BAB2-6CC2-1ACD5DB9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646" y="1124685"/>
            <a:ext cx="4491887" cy="1661997"/>
          </a:xfrm>
          <a:prstGeom prst="rect">
            <a:avLst/>
          </a:prstGeom>
        </p:spPr>
      </p:pic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2BDF141-4813-255D-75FE-0438E7FF3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646" y="4378301"/>
            <a:ext cx="4491887" cy="101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4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3D0C0BE-ED7C-3240-55BA-DD546876B7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028" r="1" b="1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EC811A-F5C9-5FD8-8E86-827B44BD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Reference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BD6C7-D65B-AB8E-2166-382D6D34F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080" y="4018143"/>
            <a:ext cx="5674105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>
                <a:solidFill>
                  <a:schemeClr val="bg1"/>
                </a:solidFill>
              </a:rPr>
              <a:t>App tier:</a:t>
            </a:r>
          </a:p>
          <a:p>
            <a:pPr lvl="1"/>
            <a:r>
              <a:rPr lang="en-US" sz="1300" b="1">
                <a:solidFill>
                  <a:schemeClr val="bg1"/>
                </a:solidFill>
              </a:rPr>
              <a:t>HPA/KEDA</a:t>
            </a:r>
            <a:r>
              <a:rPr lang="en-US" sz="1300">
                <a:solidFill>
                  <a:schemeClr val="bg1"/>
                </a:solidFill>
              </a:rPr>
              <a:t> → replica scaling</a:t>
            </a:r>
          </a:p>
          <a:p>
            <a:pPr lvl="1"/>
            <a:r>
              <a:rPr lang="en-US" sz="1300" b="1">
                <a:solidFill>
                  <a:schemeClr val="bg1"/>
                </a:solidFill>
              </a:rPr>
              <a:t>VPA</a:t>
            </a:r>
            <a:r>
              <a:rPr lang="en-US" sz="1300">
                <a:solidFill>
                  <a:schemeClr val="bg1"/>
                </a:solidFill>
              </a:rPr>
              <a:t> → right-size requests (start with recommendation mode)</a:t>
            </a:r>
          </a:p>
          <a:p>
            <a:r>
              <a:rPr lang="en-US" sz="1300">
                <a:solidFill>
                  <a:schemeClr val="bg1"/>
                </a:solidFill>
              </a:rPr>
              <a:t>Cluster tier:</a:t>
            </a:r>
          </a:p>
          <a:p>
            <a:pPr lvl="1"/>
            <a:r>
              <a:rPr lang="en-US" sz="1300" b="1">
                <a:solidFill>
                  <a:schemeClr val="bg1"/>
                </a:solidFill>
              </a:rPr>
              <a:t>Cluster Autoscaler or Karpenter</a:t>
            </a:r>
            <a:r>
              <a:rPr lang="en-US" sz="1300">
                <a:solidFill>
                  <a:schemeClr val="bg1"/>
                </a:solidFill>
              </a:rPr>
              <a:t> → add/remove nodes</a:t>
            </a:r>
          </a:p>
          <a:p>
            <a:r>
              <a:rPr lang="en-US" sz="1300">
                <a:solidFill>
                  <a:schemeClr val="bg1"/>
                </a:solidFill>
              </a:rPr>
              <a:t>End-to-end flow:</a:t>
            </a:r>
          </a:p>
          <a:p>
            <a:pPr lvl="1"/>
            <a:r>
              <a:rPr lang="en-US" sz="1300">
                <a:solidFill>
                  <a:schemeClr val="bg1"/>
                </a:solidFill>
              </a:rPr>
              <a:t>Load/event spike → HPA/KEDA increases replicas → pending pods → CA/Karpenter adds nodes</a:t>
            </a:r>
          </a:p>
          <a:p>
            <a:endParaRPr lang="en-US" sz="1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396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0041-986F-3756-C5B8-55FF9DE4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Gateway API Architecture</a:t>
            </a:r>
          </a:p>
        </p:txBody>
      </p:sp>
      <p:pic>
        <p:nvPicPr>
          <p:cNvPr id="9" name="Content Placeholder 8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E49ECF57-81D8-B9C1-00DC-CD6321BF09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02926"/>
            <a:ext cx="5181600" cy="2796735"/>
          </a:xfrm>
        </p:spPr>
      </p:pic>
    </p:spTree>
    <p:extLst>
      <p:ext uri="{BB962C8B-B14F-4D97-AF65-F5344CB8AC3E}">
        <p14:creationId xmlns:p14="http://schemas.microsoft.com/office/powerpoint/2010/main" val="224823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7112</TotalTime>
  <Words>704</Words>
  <Application>Microsoft Macintosh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-apple-system</vt:lpstr>
      <vt:lpstr>Aptos</vt:lpstr>
      <vt:lpstr>Aptos Display</vt:lpstr>
      <vt:lpstr>Arial</vt:lpstr>
      <vt:lpstr>Wingdings</vt:lpstr>
      <vt:lpstr>Office Theme</vt:lpstr>
      <vt:lpstr>Week 3 </vt:lpstr>
      <vt:lpstr>Recap </vt:lpstr>
      <vt:lpstr>PowerPoint Presentation</vt:lpstr>
      <vt:lpstr>K8S Services</vt:lpstr>
      <vt:lpstr>Horizontal Pod Autoscaler</vt:lpstr>
      <vt:lpstr>Vertical Pod Autoscaler</vt:lpstr>
      <vt:lpstr>Compare HPA and VPA </vt:lpstr>
      <vt:lpstr>Node Scaling – Cluster AutoScaler ( Cloud ) </vt:lpstr>
      <vt:lpstr>KEDA (Event-Driven Autoscaling)</vt:lpstr>
      <vt:lpstr>Node Scaling – Karpenter  ( cloud ) </vt:lpstr>
      <vt:lpstr>Reference Architecture</vt:lpstr>
      <vt:lpstr>Gateway API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Anbalagan</dc:creator>
  <cp:lastModifiedBy>Lavanya Anbalagan</cp:lastModifiedBy>
  <cp:revision>4</cp:revision>
  <dcterms:created xsi:type="dcterms:W3CDTF">2026-03-08T09:25:29Z</dcterms:created>
  <dcterms:modified xsi:type="dcterms:W3CDTF">2026-03-13T17:21:22Z</dcterms:modified>
</cp:coreProperties>
</file>