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86" r:id="rId4"/>
    <p:sldId id="262" r:id="rId5"/>
    <p:sldId id="263" r:id="rId6"/>
    <p:sldId id="261" r:id="rId7"/>
    <p:sldId id="259" r:id="rId8"/>
    <p:sldId id="264" r:id="rId9"/>
    <p:sldId id="257" r:id="rId10"/>
    <p:sldId id="258" r:id="rId11"/>
    <p:sldId id="273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C65C1-F5EE-4DD0-8120-A317EF9D0418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397549-6CFA-45EB-A2A2-8BF65EAA647D}">
      <dgm:prSet/>
      <dgm:spPr/>
      <dgm:t>
        <a:bodyPr/>
        <a:lstStyle/>
        <a:p>
          <a:r>
            <a:rPr lang="en-IN"/>
            <a:t>eBPF-based Kubernetes CNI </a:t>
          </a:r>
          <a:endParaRPr lang="en-US"/>
        </a:p>
      </dgm:t>
    </dgm:pt>
    <dgm:pt modelId="{9745BF09-6C5A-4C34-ACC4-47E05FBFE996}" type="parTrans" cxnId="{5BBC82FD-CF00-49BF-8395-FC37D541465A}">
      <dgm:prSet/>
      <dgm:spPr/>
      <dgm:t>
        <a:bodyPr/>
        <a:lstStyle/>
        <a:p>
          <a:endParaRPr lang="en-US"/>
        </a:p>
      </dgm:t>
    </dgm:pt>
    <dgm:pt modelId="{1ECFD434-0230-4A6F-8033-C95357A0D4A1}" type="sibTrans" cxnId="{5BBC82FD-CF00-49BF-8395-FC37D541465A}">
      <dgm:prSet/>
      <dgm:spPr/>
      <dgm:t>
        <a:bodyPr/>
        <a:lstStyle/>
        <a:p>
          <a:endParaRPr lang="en-US"/>
        </a:p>
      </dgm:t>
    </dgm:pt>
    <dgm:pt modelId="{125E61C2-BD1C-4A22-B995-584CC16BA6F6}">
      <dgm:prSet/>
      <dgm:spPr/>
      <dgm:t>
        <a:bodyPr/>
        <a:lstStyle/>
        <a:p>
          <a:r>
            <a:rPr lang="en-IN"/>
            <a:t>high-performance networking,</a:t>
          </a:r>
          <a:endParaRPr lang="en-US"/>
        </a:p>
      </dgm:t>
    </dgm:pt>
    <dgm:pt modelId="{77779984-14E1-407D-9795-F96ED43E64D9}" type="parTrans" cxnId="{F8E6B060-D142-4D72-B411-262D1E9B8660}">
      <dgm:prSet/>
      <dgm:spPr/>
      <dgm:t>
        <a:bodyPr/>
        <a:lstStyle/>
        <a:p>
          <a:endParaRPr lang="en-US"/>
        </a:p>
      </dgm:t>
    </dgm:pt>
    <dgm:pt modelId="{F2CCEA80-F527-4F11-9CC4-2A39DAA58E63}" type="sibTrans" cxnId="{F8E6B060-D142-4D72-B411-262D1E9B8660}">
      <dgm:prSet/>
      <dgm:spPr/>
      <dgm:t>
        <a:bodyPr/>
        <a:lstStyle/>
        <a:p>
          <a:endParaRPr lang="en-US"/>
        </a:p>
      </dgm:t>
    </dgm:pt>
    <dgm:pt modelId="{AEA1212D-8E56-4B06-91E4-AD874EC80E1E}">
      <dgm:prSet/>
      <dgm:spPr/>
      <dgm:t>
        <a:bodyPr/>
        <a:lstStyle/>
        <a:p>
          <a:r>
            <a:rPr lang="en-IN" dirty="0"/>
            <a:t>identity-based security,</a:t>
          </a:r>
          <a:endParaRPr lang="en-US" dirty="0"/>
        </a:p>
      </dgm:t>
    </dgm:pt>
    <dgm:pt modelId="{F6EBD2E2-66D7-4BB1-A9E2-9A1012F2B623}" type="parTrans" cxnId="{2FCB756F-4B20-4C9B-B034-DE95C61327AC}">
      <dgm:prSet/>
      <dgm:spPr/>
      <dgm:t>
        <a:bodyPr/>
        <a:lstStyle/>
        <a:p>
          <a:endParaRPr lang="en-US"/>
        </a:p>
      </dgm:t>
    </dgm:pt>
    <dgm:pt modelId="{3CA0AC1C-E767-4467-94AD-A6D66E00F4CC}" type="sibTrans" cxnId="{2FCB756F-4B20-4C9B-B034-DE95C61327AC}">
      <dgm:prSet/>
      <dgm:spPr/>
      <dgm:t>
        <a:bodyPr/>
        <a:lstStyle/>
        <a:p>
          <a:endParaRPr lang="en-US"/>
        </a:p>
      </dgm:t>
    </dgm:pt>
    <dgm:pt modelId="{319591A7-DE9A-457C-81BB-587FA8B83BB2}">
      <dgm:prSet/>
      <dgm:spPr/>
      <dgm:t>
        <a:bodyPr/>
        <a:lstStyle/>
        <a:p>
          <a:r>
            <a:rPr lang="en-IN"/>
            <a:t>kube-proxy replacement, </a:t>
          </a:r>
          <a:endParaRPr lang="en-US"/>
        </a:p>
      </dgm:t>
    </dgm:pt>
    <dgm:pt modelId="{8FCB3B8D-E406-4EB6-BA70-8D7AA5F9E527}" type="parTrans" cxnId="{12C2BA75-99F8-40F4-8125-A8CC325701B5}">
      <dgm:prSet/>
      <dgm:spPr/>
      <dgm:t>
        <a:bodyPr/>
        <a:lstStyle/>
        <a:p>
          <a:endParaRPr lang="en-US"/>
        </a:p>
      </dgm:t>
    </dgm:pt>
    <dgm:pt modelId="{C8A7035B-D26E-448E-8795-E5CD4236A0E2}" type="sibTrans" cxnId="{12C2BA75-99F8-40F4-8125-A8CC325701B5}">
      <dgm:prSet/>
      <dgm:spPr/>
      <dgm:t>
        <a:bodyPr/>
        <a:lstStyle/>
        <a:p>
          <a:endParaRPr lang="en-US"/>
        </a:p>
      </dgm:t>
    </dgm:pt>
    <dgm:pt modelId="{08A58269-CF0A-413E-B34A-1696FB2F1235}">
      <dgm:prSet/>
      <dgm:spPr/>
      <dgm:t>
        <a:bodyPr/>
        <a:lstStyle/>
        <a:p>
          <a:r>
            <a:rPr lang="en-IN"/>
            <a:t>deep observability  ( Hubble ) </a:t>
          </a:r>
          <a:endParaRPr lang="en-US"/>
        </a:p>
      </dgm:t>
    </dgm:pt>
    <dgm:pt modelId="{58141749-07A2-4121-A215-38DDF76AAE90}" type="parTrans" cxnId="{7E97DE3C-6707-4A8D-A5EB-FF6EB0DD314C}">
      <dgm:prSet/>
      <dgm:spPr/>
      <dgm:t>
        <a:bodyPr/>
        <a:lstStyle/>
        <a:p>
          <a:endParaRPr lang="en-US"/>
        </a:p>
      </dgm:t>
    </dgm:pt>
    <dgm:pt modelId="{58604B81-D0D5-4B63-AC1B-F35AA5E8EC62}" type="sibTrans" cxnId="{7E97DE3C-6707-4A8D-A5EB-FF6EB0DD314C}">
      <dgm:prSet/>
      <dgm:spPr/>
      <dgm:t>
        <a:bodyPr/>
        <a:lstStyle/>
        <a:p>
          <a:endParaRPr lang="en-US"/>
        </a:p>
      </dgm:t>
    </dgm:pt>
    <dgm:pt modelId="{996F8AAA-4022-4A23-92F6-0C6D7C1E56CB}">
      <dgm:prSet/>
      <dgm:spPr/>
      <dgm:t>
        <a:bodyPr/>
        <a:lstStyle/>
        <a:p>
          <a:r>
            <a:rPr lang="en-IN" dirty="0"/>
            <a:t>Service Mesh ( similar to istio ) </a:t>
          </a:r>
          <a:endParaRPr lang="en-US" dirty="0"/>
        </a:p>
      </dgm:t>
    </dgm:pt>
    <dgm:pt modelId="{F5624771-5742-4B03-9A31-E58A2805A750}" type="parTrans" cxnId="{A4351485-8BDA-4896-B6B4-1FE9A679D358}">
      <dgm:prSet/>
      <dgm:spPr/>
      <dgm:t>
        <a:bodyPr/>
        <a:lstStyle/>
        <a:p>
          <a:endParaRPr lang="en-US"/>
        </a:p>
      </dgm:t>
    </dgm:pt>
    <dgm:pt modelId="{01AC6463-7D9C-426E-B7A2-314B3C861B41}" type="sibTrans" cxnId="{A4351485-8BDA-4896-B6B4-1FE9A679D358}">
      <dgm:prSet/>
      <dgm:spPr/>
      <dgm:t>
        <a:bodyPr/>
        <a:lstStyle/>
        <a:p>
          <a:endParaRPr lang="en-US"/>
        </a:p>
      </dgm:t>
    </dgm:pt>
    <dgm:pt modelId="{3809C41C-124F-46B6-87DD-55055DEBA98F}">
      <dgm:prSet/>
      <dgm:spPr/>
      <dgm:t>
        <a:bodyPr/>
        <a:lstStyle/>
        <a:p>
          <a:r>
            <a:rPr lang="en-IN"/>
            <a:t>Gateway API ( Ingress ) </a:t>
          </a:r>
          <a:endParaRPr lang="en-US"/>
        </a:p>
      </dgm:t>
    </dgm:pt>
    <dgm:pt modelId="{EFB4896B-FCED-4808-B730-CF8309870E67}" type="parTrans" cxnId="{3679F565-94A1-420D-82BC-ADD3A4D47460}">
      <dgm:prSet/>
      <dgm:spPr/>
      <dgm:t>
        <a:bodyPr/>
        <a:lstStyle/>
        <a:p>
          <a:endParaRPr lang="en-US"/>
        </a:p>
      </dgm:t>
    </dgm:pt>
    <dgm:pt modelId="{A5FDC33E-FF13-4A25-844D-094D3362FC69}" type="sibTrans" cxnId="{3679F565-94A1-420D-82BC-ADD3A4D47460}">
      <dgm:prSet/>
      <dgm:spPr/>
      <dgm:t>
        <a:bodyPr/>
        <a:lstStyle/>
        <a:p>
          <a:endParaRPr lang="en-US"/>
        </a:p>
      </dgm:t>
    </dgm:pt>
    <dgm:pt modelId="{54FA7C9D-5370-40CA-B55F-44067E6A3B75}">
      <dgm:prSet/>
      <dgm:spPr/>
      <dgm:t>
        <a:bodyPr/>
        <a:lstStyle/>
        <a:p>
          <a:r>
            <a:rPr lang="en-IN" dirty="0"/>
            <a:t>Network Policy ( replace k8s </a:t>
          </a:r>
          <a:r>
            <a:rPr lang="en-IN" dirty="0" err="1"/>
            <a:t>netpol</a:t>
          </a:r>
          <a:r>
            <a:rPr lang="en-IN" dirty="0"/>
            <a:t>)</a:t>
          </a:r>
          <a:endParaRPr lang="en-US" dirty="0"/>
        </a:p>
      </dgm:t>
    </dgm:pt>
    <dgm:pt modelId="{56D21E4F-0286-4306-8DA8-3280EA511BA8}" type="parTrans" cxnId="{1A72C9CA-F1B7-4E28-8E8D-8BE4DCFF257A}">
      <dgm:prSet/>
      <dgm:spPr/>
      <dgm:t>
        <a:bodyPr/>
        <a:lstStyle/>
        <a:p>
          <a:endParaRPr lang="en-US"/>
        </a:p>
      </dgm:t>
    </dgm:pt>
    <dgm:pt modelId="{F6DDC534-EA34-4583-BF07-A3C84DB3731E}" type="sibTrans" cxnId="{1A72C9CA-F1B7-4E28-8E8D-8BE4DCFF257A}">
      <dgm:prSet/>
      <dgm:spPr/>
      <dgm:t>
        <a:bodyPr/>
        <a:lstStyle/>
        <a:p>
          <a:endParaRPr lang="en-US"/>
        </a:p>
      </dgm:t>
    </dgm:pt>
    <dgm:pt modelId="{E13159B4-ADFF-47EC-A24B-F34CC2B5E629}">
      <dgm:prSet/>
      <dgm:spPr/>
      <dgm:t>
        <a:bodyPr/>
        <a:lstStyle/>
        <a:p>
          <a:r>
            <a:rPr lang="en-IN" dirty="0" err="1"/>
            <a:t>Encrytion</a:t>
          </a:r>
          <a:r>
            <a:rPr lang="en-IN" dirty="0"/>
            <a:t> (</a:t>
          </a:r>
          <a:r>
            <a:rPr lang="en-IN" dirty="0" err="1"/>
            <a:t>Wireguard</a:t>
          </a:r>
          <a:r>
            <a:rPr lang="en-IN" dirty="0"/>
            <a:t>  , IPSec ) </a:t>
          </a:r>
          <a:endParaRPr lang="en-US" dirty="0"/>
        </a:p>
      </dgm:t>
    </dgm:pt>
    <dgm:pt modelId="{A0C36D72-9D01-4049-8316-7D313A9AD139}" type="parTrans" cxnId="{5C5A142C-B11A-4E03-BD2C-28BDD0CF7EAE}">
      <dgm:prSet/>
      <dgm:spPr/>
      <dgm:t>
        <a:bodyPr/>
        <a:lstStyle/>
        <a:p>
          <a:endParaRPr lang="en-US"/>
        </a:p>
      </dgm:t>
    </dgm:pt>
    <dgm:pt modelId="{6509F861-7216-4D83-AB38-93A59E911E00}" type="sibTrans" cxnId="{5C5A142C-B11A-4E03-BD2C-28BDD0CF7EAE}">
      <dgm:prSet/>
      <dgm:spPr/>
      <dgm:t>
        <a:bodyPr/>
        <a:lstStyle/>
        <a:p>
          <a:endParaRPr lang="en-US"/>
        </a:p>
      </dgm:t>
    </dgm:pt>
    <dgm:pt modelId="{06B64A14-EC7F-6649-ABD4-317A1D943A69}" type="pres">
      <dgm:prSet presAssocID="{1B2C65C1-F5EE-4DD0-8120-A317EF9D0418}" presName="diagram" presStyleCnt="0">
        <dgm:presLayoutVars>
          <dgm:dir/>
          <dgm:resizeHandles val="exact"/>
        </dgm:presLayoutVars>
      </dgm:prSet>
      <dgm:spPr/>
    </dgm:pt>
    <dgm:pt modelId="{13B264D4-CDCB-EF47-8AEA-3F4D83756390}" type="pres">
      <dgm:prSet presAssocID="{B5397549-6CFA-45EB-A2A2-8BF65EAA647D}" presName="node" presStyleLbl="node1" presStyleIdx="0" presStyleCnt="9">
        <dgm:presLayoutVars>
          <dgm:bulletEnabled val="1"/>
        </dgm:presLayoutVars>
      </dgm:prSet>
      <dgm:spPr/>
    </dgm:pt>
    <dgm:pt modelId="{A5061E5A-7DC0-6545-9759-310450701063}" type="pres">
      <dgm:prSet presAssocID="{1ECFD434-0230-4A6F-8033-C95357A0D4A1}" presName="sibTrans" presStyleCnt="0"/>
      <dgm:spPr/>
    </dgm:pt>
    <dgm:pt modelId="{DE22718D-B2B8-624B-8795-FD0F71883E7F}" type="pres">
      <dgm:prSet presAssocID="{125E61C2-BD1C-4A22-B995-584CC16BA6F6}" presName="node" presStyleLbl="node1" presStyleIdx="1" presStyleCnt="9">
        <dgm:presLayoutVars>
          <dgm:bulletEnabled val="1"/>
        </dgm:presLayoutVars>
      </dgm:prSet>
      <dgm:spPr/>
    </dgm:pt>
    <dgm:pt modelId="{BCF93474-43C4-4B46-B190-128DF5D7E13B}" type="pres">
      <dgm:prSet presAssocID="{F2CCEA80-F527-4F11-9CC4-2A39DAA58E63}" presName="sibTrans" presStyleCnt="0"/>
      <dgm:spPr/>
    </dgm:pt>
    <dgm:pt modelId="{27D27658-55A7-3B4C-B7A3-C689E37DD69F}" type="pres">
      <dgm:prSet presAssocID="{AEA1212D-8E56-4B06-91E4-AD874EC80E1E}" presName="node" presStyleLbl="node1" presStyleIdx="2" presStyleCnt="9">
        <dgm:presLayoutVars>
          <dgm:bulletEnabled val="1"/>
        </dgm:presLayoutVars>
      </dgm:prSet>
      <dgm:spPr/>
    </dgm:pt>
    <dgm:pt modelId="{DA0BB01C-6976-7A4E-B731-21EC14956640}" type="pres">
      <dgm:prSet presAssocID="{3CA0AC1C-E767-4467-94AD-A6D66E00F4CC}" presName="sibTrans" presStyleCnt="0"/>
      <dgm:spPr/>
    </dgm:pt>
    <dgm:pt modelId="{9FCB8DD4-79CD-DA45-8490-599235C62754}" type="pres">
      <dgm:prSet presAssocID="{319591A7-DE9A-457C-81BB-587FA8B83BB2}" presName="node" presStyleLbl="node1" presStyleIdx="3" presStyleCnt="9">
        <dgm:presLayoutVars>
          <dgm:bulletEnabled val="1"/>
        </dgm:presLayoutVars>
      </dgm:prSet>
      <dgm:spPr/>
    </dgm:pt>
    <dgm:pt modelId="{89F9DA47-8779-9143-8F0C-017F3F9D60AC}" type="pres">
      <dgm:prSet presAssocID="{C8A7035B-D26E-448E-8795-E5CD4236A0E2}" presName="sibTrans" presStyleCnt="0"/>
      <dgm:spPr/>
    </dgm:pt>
    <dgm:pt modelId="{D0C17DCC-7170-844E-B44D-9018B6A4D1AA}" type="pres">
      <dgm:prSet presAssocID="{08A58269-CF0A-413E-B34A-1696FB2F1235}" presName="node" presStyleLbl="node1" presStyleIdx="4" presStyleCnt="9">
        <dgm:presLayoutVars>
          <dgm:bulletEnabled val="1"/>
        </dgm:presLayoutVars>
      </dgm:prSet>
      <dgm:spPr/>
    </dgm:pt>
    <dgm:pt modelId="{09878B73-E9A8-AF45-90A9-DEF268A3F8AF}" type="pres">
      <dgm:prSet presAssocID="{58604B81-D0D5-4B63-AC1B-F35AA5E8EC62}" presName="sibTrans" presStyleCnt="0"/>
      <dgm:spPr/>
    </dgm:pt>
    <dgm:pt modelId="{36FD81C0-A0F3-8947-BF1F-9933CB48DDF0}" type="pres">
      <dgm:prSet presAssocID="{996F8AAA-4022-4A23-92F6-0C6D7C1E56CB}" presName="node" presStyleLbl="node1" presStyleIdx="5" presStyleCnt="9">
        <dgm:presLayoutVars>
          <dgm:bulletEnabled val="1"/>
        </dgm:presLayoutVars>
      </dgm:prSet>
      <dgm:spPr/>
    </dgm:pt>
    <dgm:pt modelId="{3B27365A-2BE1-A749-B696-44710C6D660A}" type="pres">
      <dgm:prSet presAssocID="{01AC6463-7D9C-426E-B7A2-314B3C861B41}" presName="sibTrans" presStyleCnt="0"/>
      <dgm:spPr/>
    </dgm:pt>
    <dgm:pt modelId="{F3B9D668-C64B-FA47-8152-14A30283F48D}" type="pres">
      <dgm:prSet presAssocID="{3809C41C-124F-46B6-87DD-55055DEBA98F}" presName="node" presStyleLbl="node1" presStyleIdx="6" presStyleCnt="9">
        <dgm:presLayoutVars>
          <dgm:bulletEnabled val="1"/>
        </dgm:presLayoutVars>
      </dgm:prSet>
      <dgm:spPr/>
    </dgm:pt>
    <dgm:pt modelId="{27B911D9-05A7-B34A-9933-2F1C03C46D96}" type="pres">
      <dgm:prSet presAssocID="{A5FDC33E-FF13-4A25-844D-094D3362FC69}" presName="sibTrans" presStyleCnt="0"/>
      <dgm:spPr/>
    </dgm:pt>
    <dgm:pt modelId="{035EACAC-01DB-F142-B68D-B62FA26D3F77}" type="pres">
      <dgm:prSet presAssocID="{54FA7C9D-5370-40CA-B55F-44067E6A3B75}" presName="node" presStyleLbl="node1" presStyleIdx="7" presStyleCnt="9">
        <dgm:presLayoutVars>
          <dgm:bulletEnabled val="1"/>
        </dgm:presLayoutVars>
      </dgm:prSet>
      <dgm:spPr/>
    </dgm:pt>
    <dgm:pt modelId="{F311F97E-81B7-3246-A6F6-BBB7F3A473C1}" type="pres">
      <dgm:prSet presAssocID="{F6DDC534-EA34-4583-BF07-A3C84DB3731E}" presName="sibTrans" presStyleCnt="0"/>
      <dgm:spPr/>
    </dgm:pt>
    <dgm:pt modelId="{81822827-A8D9-6643-84C9-45CE65596E1E}" type="pres">
      <dgm:prSet presAssocID="{E13159B4-ADFF-47EC-A24B-F34CC2B5E629}" presName="node" presStyleLbl="node1" presStyleIdx="8" presStyleCnt="9">
        <dgm:presLayoutVars>
          <dgm:bulletEnabled val="1"/>
        </dgm:presLayoutVars>
      </dgm:prSet>
      <dgm:spPr/>
    </dgm:pt>
  </dgm:ptLst>
  <dgm:cxnLst>
    <dgm:cxn modelId="{4115AD01-B12D-DF4B-B07C-23893355D436}" type="presOf" srcId="{AEA1212D-8E56-4B06-91E4-AD874EC80E1E}" destId="{27D27658-55A7-3B4C-B7A3-C689E37DD69F}" srcOrd="0" destOrd="0" presId="urn:microsoft.com/office/officeart/2005/8/layout/default"/>
    <dgm:cxn modelId="{5321CB21-F199-A645-B1F0-A5BFD31DEDDE}" type="presOf" srcId="{E13159B4-ADFF-47EC-A24B-F34CC2B5E629}" destId="{81822827-A8D9-6643-84C9-45CE65596E1E}" srcOrd="0" destOrd="0" presId="urn:microsoft.com/office/officeart/2005/8/layout/default"/>
    <dgm:cxn modelId="{E00D5E25-8094-ED49-B75C-37108B61D38B}" type="presOf" srcId="{54FA7C9D-5370-40CA-B55F-44067E6A3B75}" destId="{035EACAC-01DB-F142-B68D-B62FA26D3F77}" srcOrd="0" destOrd="0" presId="urn:microsoft.com/office/officeart/2005/8/layout/default"/>
    <dgm:cxn modelId="{5C5A142C-B11A-4E03-BD2C-28BDD0CF7EAE}" srcId="{1B2C65C1-F5EE-4DD0-8120-A317EF9D0418}" destId="{E13159B4-ADFF-47EC-A24B-F34CC2B5E629}" srcOrd="8" destOrd="0" parTransId="{A0C36D72-9D01-4049-8316-7D313A9AD139}" sibTransId="{6509F861-7216-4D83-AB38-93A59E911E00}"/>
    <dgm:cxn modelId="{7E97DE3C-6707-4A8D-A5EB-FF6EB0DD314C}" srcId="{1B2C65C1-F5EE-4DD0-8120-A317EF9D0418}" destId="{08A58269-CF0A-413E-B34A-1696FB2F1235}" srcOrd="4" destOrd="0" parTransId="{58141749-07A2-4121-A215-38DDF76AAE90}" sibTransId="{58604B81-D0D5-4B63-AC1B-F35AA5E8EC62}"/>
    <dgm:cxn modelId="{D005505D-2C28-0847-929D-02306B026994}" type="presOf" srcId="{319591A7-DE9A-457C-81BB-587FA8B83BB2}" destId="{9FCB8DD4-79CD-DA45-8490-599235C62754}" srcOrd="0" destOrd="0" presId="urn:microsoft.com/office/officeart/2005/8/layout/default"/>
    <dgm:cxn modelId="{F8E6B060-D142-4D72-B411-262D1E9B8660}" srcId="{1B2C65C1-F5EE-4DD0-8120-A317EF9D0418}" destId="{125E61C2-BD1C-4A22-B995-584CC16BA6F6}" srcOrd="1" destOrd="0" parTransId="{77779984-14E1-407D-9795-F96ED43E64D9}" sibTransId="{F2CCEA80-F527-4F11-9CC4-2A39DAA58E63}"/>
    <dgm:cxn modelId="{3679F565-94A1-420D-82BC-ADD3A4D47460}" srcId="{1B2C65C1-F5EE-4DD0-8120-A317EF9D0418}" destId="{3809C41C-124F-46B6-87DD-55055DEBA98F}" srcOrd="6" destOrd="0" parTransId="{EFB4896B-FCED-4808-B730-CF8309870E67}" sibTransId="{A5FDC33E-FF13-4A25-844D-094D3362FC69}"/>
    <dgm:cxn modelId="{2FCB756F-4B20-4C9B-B034-DE95C61327AC}" srcId="{1B2C65C1-F5EE-4DD0-8120-A317EF9D0418}" destId="{AEA1212D-8E56-4B06-91E4-AD874EC80E1E}" srcOrd="2" destOrd="0" parTransId="{F6EBD2E2-66D7-4BB1-A9E2-9A1012F2B623}" sibTransId="{3CA0AC1C-E767-4467-94AD-A6D66E00F4CC}"/>
    <dgm:cxn modelId="{D0F76273-0D6D-4D4B-8BC8-3DA6C9B3D621}" type="presOf" srcId="{3809C41C-124F-46B6-87DD-55055DEBA98F}" destId="{F3B9D668-C64B-FA47-8152-14A30283F48D}" srcOrd="0" destOrd="0" presId="urn:microsoft.com/office/officeart/2005/8/layout/default"/>
    <dgm:cxn modelId="{12C2BA75-99F8-40F4-8125-A8CC325701B5}" srcId="{1B2C65C1-F5EE-4DD0-8120-A317EF9D0418}" destId="{319591A7-DE9A-457C-81BB-587FA8B83BB2}" srcOrd="3" destOrd="0" parTransId="{8FCB3B8D-E406-4EB6-BA70-8D7AA5F9E527}" sibTransId="{C8A7035B-D26E-448E-8795-E5CD4236A0E2}"/>
    <dgm:cxn modelId="{A4351485-8BDA-4896-B6B4-1FE9A679D358}" srcId="{1B2C65C1-F5EE-4DD0-8120-A317EF9D0418}" destId="{996F8AAA-4022-4A23-92F6-0C6D7C1E56CB}" srcOrd="5" destOrd="0" parTransId="{F5624771-5742-4B03-9A31-E58A2805A750}" sibTransId="{01AC6463-7D9C-426E-B7A2-314B3C861B41}"/>
    <dgm:cxn modelId="{9F7083A9-B908-5B46-A924-B1C128FD8E03}" type="presOf" srcId="{08A58269-CF0A-413E-B34A-1696FB2F1235}" destId="{D0C17DCC-7170-844E-B44D-9018B6A4D1AA}" srcOrd="0" destOrd="0" presId="urn:microsoft.com/office/officeart/2005/8/layout/default"/>
    <dgm:cxn modelId="{33463ABB-39AA-854A-8D9C-4292A958265C}" type="presOf" srcId="{996F8AAA-4022-4A23-92F6-0C6D7C1E56CB}" destId="{36FD81C0-A0F3-8947-BF1F-9933CB48DDF0}" srcOrd="0" destOrd="0" presId="urn:microsoft.com/office/officeart/2005/8/layout/default"/>
    <dgm:cxn modelId="{1A72C9CA-F1B7-4E28-8E8D-8BE4DCFF257A}" srcId="{1B2C65C1-F5EE-4DD0-8120-A317EF9D0418}" destId="{54FA7C9D-5370-40CA-B55F-44067E6A3B75}" srcOrd="7" destOrd="0" parTransId="{56D21E4F-0286-4306-8DA8-3280EA511BA8}" sibTransId="{F6DDC534-EA34-4583-BF07-A3C84DB3731E}"/>
    <dgm:cxn modelId="{A3860CD7-F42B-3D4B-B109-E9533929234A}" type="presOf" srcId="{B5397549-6CFA-45EB-A2A2-8BF65EAA647D}" destId="{13B264D4-CDCB-EF47-8AEA-3F4D83756390}" srcOrd="0" destOrd="0" presId="urn:microsoft.com/office/officeart/2005/8/layout/default"/>
    <dgm:cxn modelId="{601395EA-E80A-4642-8370-272F80167B0E}" type="presOf" srcId="{1B2C65C1-F5EE-4DD0-8120-A317EF9D0418}" destId="{06B64A14-EC7F-6649-ABD4-317A1D943A69}" srcOrd="0" destOrd="0" presId="urn:microsoft.com/office/officeart/2005/8/layout/default"/>
    <dgm:cxn modelId="{3989D2F4-1DB8-0C48-BED1-337CAF4A05A4}" type="presOf" srcId="{125E61C2-BD1C-4A22-B995-584CC16BA6F6}" destId="{DE22718D-B2B8-624B-8795-FD0F71883E7F}" srcOrd="0" destOrd="0" presId="urn:microsoft.com/office/officeart/2005/8/layout/default"/>
    <dgm:cxn modelId="{5BBC82FD-CF00-49BF-8395-FC37D541465A}" srcId="{1B2C65C1-F5EE-4DD0-8120-A317EF9D0418}" destId="{B5397549-6CFA-45EB-A2A2-8BF65EAA647D}" srcOrd="0" destOrd="0" parTransId="{9745BF09-6C5A-4C34-ACC4-47E05FBFE996}" sibTransId="{1ECFD434-0230-4A6F-8033-C95357A0D4A1}"/>
    <dgm:cxn modelId="{6B1F1003-7B91-C147-9B7E-C7F79B7527BF}" type="presParOf" srcId="{06B64A14-EC7F-6649-ABD4-317A1D943A69}" destId="{13B264D4-CDCB-EF47-8AEA-3F4D83756390}" srcOrd="0" destOrd="0" presId="urn:microsoft.com/office/officeart/2005/8/layout/default"/>
    <dgm:cxn modelId="{91AFB5DC-D459-AD48-98AA-E1BDAB6F9173}" type="presParOf" srcId="{06B64A14-EC7F-6649-ABD4-317A1D943A69}" destId="{A5061E5A-7DC0-6545-9759-310450701063}" srcOrd="1" destOrd="0" presId="urn:microsoft.com/office/officeart/2005/8/layout/default"/>
    <dgm:cxn modelId="{F3BABED2-4887-CC4D-A1FF-7CD3E2302B10}" type="presParOf" srcId="{06B64A14-EC7F-6649-ABD4-317A1D943A69}" destId="{DE22718D-B2B8-624B-8795-FD0F71883E7F}" srcOrd="2" destOrd="0" presId="urn:microsoft.com/office/officeart/2005/8/layout/default"/>
    <dgm:cxn modelId="{6767C1B0-AF83-724C-92BF-D08D72366F27}" type="presParOf" srcId="{06B64A14-EC7F-6649-ABD4-317A1D943A69}" destId="{BCF93474-43C4-4B46-B190-128DF5D7E13B}" srcOrd="3" destOrd="0" presId="urn:microsoft.com/office/officeart/2005/8/layout/default"/>
    <dgm:cxn modelId="{3B94F63C-EE93-CD4B-9442-AC37729DE775}" type="presParOf" srcId="{06B64A14-EC7F-6649-ABD4-317A1D943A69}" destId="{27D27658-55A7-3B4C-B7A3-C689E37DD69F}" srcOrd="4" destOrd="0" presId="urn:microsoft.com/office/officeart/2005/8/layout/default"/>
    <dgm:cxn modelId="{94E5AE7C-AC2F-9D41-B2CE-2B4F81F69D06}" type="presParOf" srcId="{06B64A14-EC7F-6649-ABD4-317A1D943A69}" destId="{DA0BB01C-6976-7A4E-B731-21EC14956640}" srcOrd="5" destOrd="0" presId="urn:microsoft.com/office/officeart/2005/8/layout/default"/>
    <dgm:cxn modelId="{AB477E05-090F-9946-A298-5E4F3970AAAF}" type="presParOf" srcId="{06B64A14-EC7F-6649-ABD4-317A1D943A69}" destId="{9FCB8DD4-79CD-DA45-8490-599235C62754}" srcOrd="6" destOrd="0" presId="urn:microsoft.com/office/officeart/2005/8/layout/default"/>
    <dgm:cxn modelId="{60E2354C-E499-B14C-A28E-1112AA544ECB}" type="presParOf" srcId="{06B64A14-EC7F-6649-ABD4-317A1D943A69}" destId="{89F9DA47-8779-9143-8F0C-017F3F9D60AC}" srcOrd="7" destOrd="0" presId="urn:microsoft.com/office/officeart/2005/8/layout/default"/>
    <dgm:cxn modelId="{391152C3-D2C2-1945-8864-349FDF52204C}" type="presParOf" srcId="{06B64A14-EC7F-6649-ABD4-317A1D943A69}" destId="{D0C17DCC-7170-844E-B44D-9018B6A4D1AA}" srcOrd="8" destOrd="0" presId="urn:microsoft.com/office/officeart/2005/8/layout/default"/>
    <dgm:cxn modelId="{33AE5789-EB5E-FD40-A98D-61F6F48D312A}" type="presParOf" srcId="{06B64A14-EC7F-6649-ABD4-317A1D943A69}" destId="{09878B73-E9A8-AF45-90A9-DEF268A3F8AF}" srcOrd="9" destOrd="0" presId="urn:microsoft.com/office/officeart/2005/8/layout/default"/>
    <dgm:cxn modelId="{57188950-2916-0D4A-9389-5F8C3A767701}" type="presParOf" srcId="{06B64A14-EC7F-6649-ABD4-317A1D943A69}" destId="{36FD81C0-A0F3-8947-BF1F-9933CB48DDF0}" srcOrd="10" destOrd="0" presId="urn:microsoft.com/office/officeart/2005/8/layout/default"/>
    <dgm:cxn modelId="{FB020EEC-8616-8340-957C-81E03891DE69}" type="presParOf" srcId="{06B64A14-EC7F-6649-ABD4-317A1D943A69}" destId="{3B27365A-2BE1-A749-B696-44710C6D660A}" srcOrd="11" destOrd="0" presId="urn:microsoft.com/office/officeart/2005/8/layout/default"/>
    <dgm:cxn modelId="{90545C1C-EADC-8948-8A69-336EEC727854}" type="presParOf" srcId="{06B64A14-EC7F-6649-ABD4-317A1D943A69}" destId="{F3B9D668-C64B-FA47-8152-14A30283F48D}" srcOrd="12" destOrd="0" presId="urn:microsoft.com/office/officeart/2005/8/layout/default"/>
    <dgm:cxn modelId="{931EA5C2-7330-FC48-B831-7BC21D764CBB}" type="presParOf" srcId="{06B64A14-EC7F-6649-ABD4-317A1D943A69}" destId="{27B911D9-05A7-B34A-9933-2F1C03C46D96}" srcOrd="13" destOrd="0" presId="urn:microsoft.com/office/officeart/2005/8/layout/default"/>
    <dgm:cxn modelId="{C2FDE83A-BC73-064B-8BFB-C2B30CC74387}" type="presParOf" srcId="{06B64A14-EC7F-6649-ABD4-317A1D943A69}" destId="{035EACAC-01DB-F142-B68D-B62FA26D3F77}" srcOrd="14" destOrd="0" presId="urn:microsoft.com/office/officeart/2005/8/layout/default"/>
    <dgm:cxn modelId="{385588F1-36FA-734C-B2C3-EAA83AD6ED19}" type="presParOf" srcId="{06B64A14-EC7F-6649-ABD4-317A1D943A69}" destId="{F311F97E-81B7-3246-A6F6-BBB7F3A473C1}" srcOrd="15" destOrd="0" presId="urn:microsoft.com/office/officeart/2005/8/layout/default"/>
    <dgm:cxn modelId="{CCEC1EB2-ED18-4D4B-B6AE-3F7EAD16E9A5}" type="presParOf" srcId="{06B64A14-EC7F-6649-ABD4-317A1D943A69}" destId="{81822827-A8D9-6643-84C9-45CE65596E1E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264D4-CDCB-EF47-8AEA-3F4D83756390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eBPF-based Kubernetes CNI </a:t>
          </a:r>
          <a:endParaRPr lang="en-US" sz="2400" kern="1200"/>
        </a:p>
      </dsp:txBody>
      <dsp:txXfrm>
        <a:off x="582645" y="1178"/>
        <a:ext cx="2174490" cy="1304694"/>
      </dsp:txXfrm>
    </dsp:sp>
    <dsp:sp modelId="{DE22718D-B2B8-624B-8795-FD0F71883E7F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high-performance networking,</a:t>
          </a:r>
          <a:endParaRPr lang="en-US" sz="2400" kern="1200"/>
        </a:p>
      </dsp:txBody>
      <dsp:txXfrm>
        <a:off x="2974584" y="1178"/>
        <a:ext cx="2174490" cy="1304694"/>
      </dsp:txXfrm>
    </dsp:sp>
    <dsp:sp modelId="{27D27658-55A7-3B4C-B7A3-C689E37DD69F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identity-based security,</a:t>
          </a:r>
          <a:endParaRPr lang="en-US" sz="2400" kern="1200" dirty="0"/>
        </a:p>
      </dsp:txBody>
      <dsp:txXfrm>
        <a:off x="5366524" y="1178"/>
        <a:ext cx="2174490" cy="1304694"/>
      </dsp:txXfrm>
    </dsp:sp>
    <dsp:sp modelId="{9FCB8DD4-79CD-DA45-8490-599235C62754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kube-proxy replacement, </a:t>
          </a:r>
          <a:endParaRPr lang="en-US" sz="2400" kern="1200"/>
        </a:p>
      </dsp:txBody>
      <dsp:txXfrm>
        <a:off x="7758464" y="1178"/>
        <a:ext cx="2174490" cy="1304694"/>
      </dsp:txXfrm>
    </dsp:sp>
    <dsp:sp modelId="{D0C17DCC-7170-844E-B44D-9018B6A4D1AA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deep observability  ( Hubble ) </a:t>
          </a:r>
          <a:endParaRPr lang="en-US" sz="2400" kern="1200"/>
        </a:p>
      </dsp:txBody>
      <dsp:txXfrm>
        <a:off x="582645" y="1523321"/>
        <a:ext cx="2174490" cy="1304694"/>
      </dsp:txXfrm>
    </dsp:sp>
    <dsp:sp modelId="{36FD81C0-A0F3-8947-BF1F-9933CB48DDF0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Service Mesh ( similar to istio ) </a:t>
          </a:r>
          <a:endParaRPr lang="en-US" sz="2400" kern="1200" dirty="0"/>
        </a:p>
      </dsp:txBody>
      <dsp:txXfrm>
        <a:off x="2974584" y="1523321"/>
        <a:ext cx="2174490" cy="1304694"/>
      </dsp:txXfrm>
    </dsp:sp>
    <dsp:sp modelId="{F3B9D668-C64B-FA47-8152-14A30283F48D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Gateway API ( Ingress ) </a:t>
          </a:r>
          <a:endParaRPr lang="en-US" sz="2400" kern="1200"/>
        </a:p>
      </dsp:txBody>
      <dsp:txXfrm>
        <a:off x="5366524" y="1523321"/>
        <a:ext cx="2174490" cy="1304694"/>
      </dsp:txXfrm>
    </dsp:sp>
    <dsp:sp modelId="{035EACAC-01DB-F142-B68D-B62FA26D3F77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Network Policy ( replace k8s </a:t>
          </a:r>
          <a:r>
            <a:rPr lang="en-IN" sz="2400" kern="1200" dirty="0" err="1"/>
            <a:t>netpol</a:t>
          </a:r>
          <a:r>
            <a:rPr lang="en-IN" sz="2400" kern="1200" dirty="0"/>
            <a:t>)</a:t>
          </a:r>
          <a:endParaRPr lang="en-US" sz="2400" kern="1200" dirty="0"/>
        </a:p>
      </dsp:txBody>
      <dsp:txXfrm>
        <a:off x="7758464" y="1523321"/>
        <a:ext cx="2174490" cy="1304694"/>
      </dsp:txXfrm>
    </dsp:sp>
    <dsp:sp modelId="{81822827-A8D9-6643-84C9-45CE65596E1E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 err="1"/>
            <a:t>Encrytion</a:t>
          </a:r>
          <a:r>
            <a:rPr lang="en-IN" sz="2400" kern="1200" dirty="0"/>
            <a:t> (</a:t>
          </a:r>
          <a:r>
            <a:rPr lang="en-IN" sz="2400" kern="1200" dirty="0" err="1"/>
            <a:t>Wireguard</a:t>
          </a:r>
          <a:r>
            <a:rPr lang="en-IN" sz="2400" kern="1200" dirty="0"/>
            <a:t>  , IPSec ) </a:t>
          </a:r>
          <a:endParaRPr lang="en-US" sz="2400" kern="1200" dirty="0"/>
        </a:p>
      </dsp:txBody>
      <dsp:txXfrm>
        <a:off x="417055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89FF9-54CD-A24E-A473-F580512E1F2E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52E8E-9EA9-194C-8D22-7E9DBA650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52E8E-9EA9-194C-8D22-7E9DBA650F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3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49FD-1D17-7ADF-481C-124290F6C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07FF1-E341-1291-5A05-5BB93EE93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15380-8B74-FCA5-D298-CD03E9E9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82E7B-0D38-4FBF-7411-E63397F7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8DAF8-182B-5EC8-A288-2C239D20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2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8EA6-F44A-4E9E-94FE-F0FCCB6F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743A-02DD-008E-D580-062FF88B5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2B038-643A-94A6-3B61-8FD59DED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5FEAC-7AD1-BCD6-84D8-09820B9F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49CC1-DF46-0021-B1CC-D6110D07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8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5B19-78CE-3E60-A8E4-2434302C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7C013-51EB-CF78-A9E3-8EFBBA7E9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A13E-DA23-ACED-0B9F-B725D45F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EFF-50BC-F798-69B5-23D476B4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71036-1300-7928-DF68-629C81B9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4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02CF-155F-B18B-C979-814A7C93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026B-2696-6A1F-71FA-0B66B4F79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4DDBB-F751-6A5C-91E8-6B963B339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677B0-A4BC-3C89-5923-34BE7E71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6C74D-7892-F3F9-968F-4AAEE6AF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59231-8412-81CD-D374-51B9E08A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3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7190-C352-9640-39B6-CDB94EAE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AD65E-CBE3-0F72-0795-A9AEB49C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A8090-2B09-B782-68EA-5767C2471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7CACF-5392-E078-CE6D-4E30DE2A6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0806FE-D201-39D0-E232-9B13DDCD0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F0626-9F87-D76A-5A2C-36DB9C23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4EBFD-624E-1705-1DC8-F97F0AF6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1FB7A-9EA6-F355-6271-F123023D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7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C9D1-E808-0298-6AEF-4C9DAB96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9D696-3A2D-ED92-3E33-B995783E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35CBA-C67A-7796-DED5-E8305000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2367E-259C-8423-21E1-2B1B0BAF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2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A192A-26CF-D0B2-9B82-3C5C5EAE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2B9AC-2F8E-D6F8-030C-4D1D0726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3F405-A494-61E3-3187-20EF467C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3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134D-DF3B-FCE3-39AA-F71AE475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5E08-1EA7-4B4F-D4DB-0D3A73F3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1F44D-2CF5-2D8D-D84F-106DEC39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DA132-C241-4A71-A341-916DA2DC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13093-DD43-5226-7B3C-DBFABEA9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BBCC1-7053-CA54-A939-8C5C1A42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0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B5E0-5A42-DA1C-6B32-D351419F7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7B4225-AA76-F5E8-EE82-18E5574AA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B4076-169D-BD53-C315-43A421C1A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8974C-A519-92DC-D53C-53848F14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3DAC4-C02F-5F68-58A5-FCB359FE5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E130F-4633-18B6-B63E-96BCDE62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7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CB7F-4F84-2B8B-596F-47398606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08501-2175-F209-ECB4-38C27C47E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2507-7C1B-A21A-5220-C71B73A6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EB8C-668B-19B2-5D5B-96C24A2A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EDEE4-9F7C-7E1B-C08A-EE0BB668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36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9FAA4-9442-81C7-40F1-CEA0B7BFA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63E81-04CD-ABD5-53E4-038BA2C74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EA845-216A-C708-5D57-4372EC56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91FA0-AB37-479A-0B58-9A0A4665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36CFD-BFA6-7675-B78F-6E7B8018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0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532DFD-6041-1522-6A9C-147554DD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81201-82FA-3AC7-F682-0FC8A6F8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884AC-7C38-C7AA-06D1-962CCE48E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256DA-5C3D-5B42-98BA-9152B537C88A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2724-3A50-7A02-FAC8-6E8330ECD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B2F3-DAFA-C28A-8670-E8F8A0029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8EE3E-52C9-214D-9BAB-150643910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8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F682A-F684-508E-F859-57F6AD8A8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Week2 - Day2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91E5B-9267-FF74-E642-B23638FCF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rgbClr val="FFFFFF"/>
                </a:solidFill>
              </a:rPr>
              <a:t>Cilium Networking and Cluster State Management in Kubernetes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67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A blue and green triangle pattern&#10;&#10;AI-generated content may be incorrect.">
            <a:extLst>
              <a:ext uri="{FF2B5EF4-FFF2-40B4-BE49-F238E27FC236}">
                <a16:creationId xmlns:a16="http://schemas.microsoft.com/office/drawing/2014/main" id="{0CC0BAEC-5271-8F2B-60B6-64FD46A39E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7964" b="7767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24E412-9966-CF93-C9DB-B1668BB21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EBPF in Linux Kernel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8019809-6A76-26D0-5898-016D14233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6552" y="557189"/>
            <a:ext cx="6167246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</a:rPr>
              <a:t>eBPF</a:t>
            </a:r>
            <a:r>
              <a:rPr lang="en-US" sz="1700" b="1" dirty="0">
                <a:solidFill>
                  <a:srgbClr val="FFFFFF"/>
                </a:solidFill>
              </a:rPr>
              <a:t> (Extended Berkeley Packet Filter)</a:t>
            </a:r>
            <a:r>
              <a:rPr lang="en-US" sz="1700" dirty="0">
                <a:solidFill>
                  <a:srgbClr val="FFFFFF"/>
                </a:solidFill>
              </a:rPr>
              <a:t> allows small programs to run </a:t>
            </a:r>
            <a:r>
              <a:rPr lang="en-US" sz="1700" b="1" dirty="0">
                <a:solidFill>
                  <a:srgbClr val="FFFFFF"/>
                </a:solidFill>
              </a:rPr>
              <a:t>directly inside the Linux kernel</a:t>
            </a:r>
            <a:r>
              <a:rPr lang="en-US" sz="17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Capabilities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Observe network traffic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Filter packets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Modify network behavior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Extend kernel functionality </a:t>
            </a:r>
            <a:r>
              <a:rPr lang="en-US" sz="1300" b="1" dirty="0">
                <a:solidFill>
                  <a:srgbClr val="FFFFFF"/>
                </a:solidFill>
              </a:rPr>
              <a:t>without modifying kernel code</a:t>
            </a:r>
          </a:p>
          <a:p>
            <a:pPr marL="457200" lvl="1" indent="0">
              <a:buNone/>
            </a:pPr>
            <a:endParaRPr lang="en-US" sz="13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Traditional Kubernetes Networking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b="1" dirty="0">
                <a:solidFill>
                  <a:srgbClr val="FFFFFF"/>
                </a:solidFill>
              </a:rPr>
              <a:t>Traffic Flow:</a:t>
            </a:r>
            <a:endParaRPr lang="en-US" sz="13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Pod → Linux Kernel → iptables (many chains &amp; rules) → Destination</a:t>
            </a:r>
          </a:p>
          <a:p>
            <a:pPr lvl="1">
              <a:buFont typeface="Wingdings" pitchFamily="2" charset="2"/>
              <a:buChar char="Ø"/>
            </a:pPr>
            <a:endParaRPr lang="en-US" sz="13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Challenges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Performance decreases as </a:t>
            </a:r>
            <a:r>
              <a:rPr lang="en-US" sz="1300" b="1" dirty="0">
                <a:solidFill>
                  <a:srgbClr val="FFFFFF"/>
                </a:solidFill>
              </a:rPr>
              <a:t>iptables rules increase</a:t>
            </a:r>
            <a:endParaRPr lang="en-US" sz="13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1300" b="1" dirty="0">
                <a:solidFill>
                  <a:srgbClr val="FFFFFF"/>
                </a:solidFill>
              </a:rPr>
              <a:t>Difficult to debug</a:t>
            </a:r>
            <a:r>
              <a:rPr lang="en-US" sz="1300" dirty="0">
                <a:solidFill>
                  <a:srgbClr val="FFFFFF"/>
                </a:solidFill>
              </a:rPr>
              <a:t> complex rule chains</a:t>
            </a:r>
          </a:p>
          <a:p>
            <a:pPr lvl="1">
              <a:buFont typeface="Wingdings" pitchFamily="2" charset="2"/>
              <a:buChar char="Ø"/>
            </a:pPr>
            <a:r>
              <a:rPr lang="en-US" sz="1300" dirty="0">
                <a:solidFill>
                  <a:srgbClr val="FFFFFF"/>
                </a:solidFill>
              </a:rPr>
              <a:t>Packets may traverse the </a:t>
            </a:r>
            <a:r>
              <a:rPr lang="en-US" sz="1300" b="1" dirty="0">
                <a:solidFill>
                  <a:srgbClr val="FFFFFF"/>
                </a:solidFill>
              </a:rPr>
              <a:t>kernel multiple times</a:t>
            </a:r>
            <a:endParaRPr lang="en-US" sz="13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1300" b="1" dirty="0">
                <a:solidFill>
                  <a:srgbClr val="FFFFFF"/>
                </a:solidFill>
              </a:rPr>
              <a:t>Higher latency</a:t>
            </a:r>
            <a:r>
              <a:rPr lang="en-US" sz="1300" dirty="0">
                <a:solidFill>
                  <a:srgbClr val="FFFFFF"/>
                </a:solidFill>
              </a:rPr>
              <a:t> in large clusters</a:t>
            </a:r>
          </a:p>
          <a:p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72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4053-EAF1-3581-3D12-E956083C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Cilium - Networking with </a:t>
            </a:r>
            <a:r>
              <a:rPr lang="en-IN" b="1" dirty="0" err="1"/>
              <a:t>eBPF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A4DEB-1B16-0638-8B1B-BD2AEFB4A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489141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 err="1"/>
              <a:t>eBPF</a:t>
            </a:r>
            <a:r>
              <a:rPr lang="en-IN" dirty="0"/>
              <a:t> enables </a:t>
            </a:r>
            <a:r>
              <a:rPr lang="en-IN" b="1" dirty="0"/>
              <a:t>high-performance packet processing directly inside the Linux kernel</a:t>
            </a:r>
            <a:r>
              <a:rPr lang="en-IN" dirty="0"/>
              <a:t>, allowing real-time decisions on network traffic.</a:t>
            </a:r>
          </a:p>
          <a:p>
            <a:pPr marL="0" indent="0">
              <a:buNone/>
            </a:pPr>
            <a:r>
              <a:rPr lang="en-IN" b="1" dirty="0"/>
              <a:t>Packet Flow</a:t>
            </a:r>
          </a:p>
          <a:p>
            <a:pPr marL="0" indent="0">
              <a:buNone/>
            </a:pPr>
            <a:r>
              <a:rPr lang="en-IN" dirty="0"/>
              <a:t>Packet → </a:t>
            </a:r>
            <a:r>
              <a:rPr lang="en-IN" dirty="0" err="1"/>
              <a:t>eBPF</a:t>
            </a:r>
            <a:r>
              <a:rPr lang="en-IN" dirty="0"/>
              <a:t> Program → Decision</a:t>
            </a:r>
          </a:p>
          <a:p>
            <a:pPr marL="0" indent="0">
              <a:buNone/>
            </a:pPr>
            <a:r>
              <a:rPr lang="en-IN" b="1" dirty="0"/>
              <a:t>Example Flow in Kubernetes:</a:t>
            </a:r>
            <a:endParaRPr lang="en-IN" dirty="0"/>
          </a:p>
          <a:p>
            <a:r>
              <a:rPr lang="en-IN" dirty="0"/>
              <a:t>Frontend Pod → NIC → </a:t>
            </a:r>
            <a:r>
              <a:rPr lang="en-IN" dirty="0" err="1"/>
              <a:t>eBPF</a:t>
            </a:r>
            <a:r>
              <a:rPr lang="en-IN" dirty="0"/>
              <a:t> Hook (Allow / Deny / Modify) → Linux Network Stack → Destination Pod</a:t>
            </a:r>
          </a:p>
          <a:p>
            <a:pPr marL="0" indent="0">
              <a:buNone/>
            </a:pPr>
            <a:r>
              <a:rPr lang="en-IN" dirty="0" err="1"/>
              <a:t>eBPF</a:t>
            </a:r>
            <a:r>
              <a:rPr lang="en-IN" dirty="0"/>
              <a:t> programs can </a:t>
            </a:r>
            <a:r>
              <a:rPr lang="en-IN" b="1" dirty="0"/>
              <a:t>inspect, filter, or modify packets before they reach the traditional networking stack</a:t>
            </a:r>
            <a:r>
              <a:rPr lang="en-IN" dirty="0"/>
              <a:t>, improving performance and reducing latency.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Common </a:t>
            </a:r>
            <a:r>
              <a:rPr lang="en-IN" b="1" dirty="0" err="1"/>
              <a:t>eBPF</a:t>
            </a:r>
            <a:r>
              <a:rPr lang="en-IN" b="1" dirty="0"/>
              <a:t> Terminology</a:t>
            </a:r>
          </a:p>
          <a:p>
            <a:r>
              <a:rPr lang="en-IN" b="1" dirty="0"/>
              <a:t>XDP (</a:t>
            </a:r>
            <a:r>
              <a:rPr lang="en-IN" b="1" dirty="0" err="1"/>
              <a:t>eXpress</a:t>
            </a:r>
            <a:r>
              <a:rPr lang="en-IN" b="1" dirty="0"/>
              <a:t> Data Path)</a:t>
            </a:r>
            <a:endParaRPr lang="en-IN" dirty="0"/>
          </a:p>
          <a:p>
            <a:pPr lvl="1"/>
            <a:r>
              <a:rPr lang="en-IN" dirty="0"/>
              <a:t>High-performance packet processing at the </a:t>
            </a:r>
            <a:r>
              <a:rPr lang="en-IN" b="1" dirty="0"/>
              <a:t>NIC driver level</a:t>
            </a:r>
            <a:endParaRPr lang="en-IN" dirty="0"/>
          </a:p>
          <a:p>
            <a:pPr lvl="1"/>
            <a:r>
              <a:rPr lang="en-IN" dirty="0"/>
              <a:t>Used for </a:t>
            </a:r>
            <a:r>
              <a:rPr lang="en-IN" b="1" dirty="0"/>
              <a:t>fast packet filtering and DDoS protection</a:t>
            </a:r>
            <a:endParaRPr lang="en-IN" dirty="0"/>
          </a:p>
          <a:p>
            <a:r>
              <a:rPr lang="en-IN" b="1" dirty="0"/>
              <a:t>TC (Traffic Control)</a:t>
            </a:r>
            <a:endParaRPr lang="en-IN" dirty="0"/>
          </a:p>
          <a:p>
            <a:pPr lvl="1"/>
            <a:r>
              <a:rPr lang="en-IN" dirty="0"/>
              <a:t>Used for </a:t>
            </a:r>
            <a:r>
              <a:rPr lang="en-IN" b="1" dirty="0"/>
              <a:t>traffic shaping, filtering, and monitoring</a:t>
            </a:r>
            <a:r>
              <a:rPr lang="en-IN" dirty="0"/>
              <a:t> within the Linux networking stack</a:t>
            </a:r>
          </a:p>
          <a:p>
            <a:r>
              <a:rPr lang="en-IN" b="1" dirty="0"/>
              <a:t>Kernel Tracing (</a:t>
            </a:r>
            <a:r>
              <a:rPr lang="en-IN" b="1" dirty="0" err="1"/>
              <a:t>Kprobe</a:t>
            </a:r>
            <a:r>
              <a:rPr lang="en-IN" b="1" dirty="0"/>
              <a:t>/</a:t>
            </a:r>
            <a:r>
              <a:rPr lang="en-IN" b="1" dirty="0" err="1"/>
              <a:t>Tracepoints</a:t>
            </a:r>
            <a:r>
              <a:rPr lang="en-IN" b="1" dirty="0"/>
              <a:t>)</a:t>
            </a:r>
            <a:endParaRPr lang="en-IN" dirty="0"/>
          </a:p>
          <a:p>
            <a:pPr lvl="1"/>
            <a:r>
              <a:rPr lang="en-IN" dirty="0"/>
              <a:t>Used to </a:t>
            </a:r>
            <a:r>
              <a:rPr lang="en-IN" b="1" dirty="0"/>
              <a:t>observe and trace kernel events</a:t>
            </a:r>
            <a:r>
              <a:rPr lang="en-IN" dirty="0"/>
              <a:t> for debugging and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7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7AE99-D2EE-F102-2A2F-FE05E900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Advantages of Cilium Networking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8E10-AF52-2352-15A3-B1179B7C1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Key Benefits</a:t>
            </a:r>
          </a:p>
          <a:p>
            <a:r>
              <a:rPr lang="en-US" sz="1300" b="1" dirty="0"/>
              <a:t>Runs inside the Linux Kernel</a:t>
            </a:r>
            <a:br>
              <a:rPr lang="en-US" sz="1300" dirty="0"/>
            </a:br>
            <a:r>
              <a:rPr lang="en-US" sz="1300" dirty="0" err="1"/>
              <a:t>eBPF</a:t>
            </a:r>
            <a:r>
              <a:rPr lang="en-US" sz="1300" dirty="0"/>
              <a:t> programs operate in kernel space, enabling </a:t>
            </a:r>
            <a:r>
              <a:rPr lang="en-US" sz="1300" b="1" dirty="0"/>
              <a:t>very fast packet processing</a:t>
            </a:r>
            <a:r>
              <a:rPr lang="en-US" sz="1300" dirty="0"/>
              <a:t>.</a:t>
            </a:r>
          </a:p>
          <a:p>
            <a:r>
              <a:rPr lang="en-US" sz="1300" b="1" dirty="0"/>
              <a:t>No Kernel Recompilation Required</a:t>
            </a:r>
            <a:br>
              <a:rPr lang="en-US" sz="1300" dirty="0"/>
            </a:br>
            <a:r>
              <a:rPr lang="en-US" sz="1300" dirty="0" err="1"/>
              <a:t>eBPF</a:t>
            </a:r>
            <a:r>
              <a:rPr lang="en-US" sz="1300" dirty="0"/>
              <a:t> programs can be loaded dynamically without modifying or rebuilding the kernel.</a:t>
            </a:r>
          </a:p>
          <a:p>
            <a:r>
              <a:rPr lang="en-US" sz="1300" b="1" dirty="0"/>
              <a:t>Safe Sandboxed Execution</a:t>
            </a:r>
            <a:br>
              <a:rPr lang="en-US" sz="1300" dirty="0"/>
            </a:br>
            <a:r>
              <a:rPr lang="en-US" sz="1300" dirty="0" err="1"/>
              <a:t>eBPF</a:t>
            </a:r>
            <a:r>
              <a:rPr lang="en-US" sz="1300" dirty="0"/>
              <a:t> programs run in a </a:t>
            </a:r>
            <a:r>
              <a:rPr lang="en-US" sz="1300" b="1" dirty="0"/>
              <a:t>verified and secure sandbox</a:t>
            </a:r>
            <a:r>
              <a:rPr lang="en-US" sz="1300" dirty="0"/>
              <a:t>, preventing unsafe kernel operations.</a:t>
            </a:r>
          </a:p>
          <a:p>
            <a:r>
              <a:rPr lang="en-US" sz="1300" b="1" dirty="0"/>
              <a:t>Deep Observability</a:t>
            </a:r>
            <a:br>
              <a:rPr lang="en-US" sz="1300" dirty="0"/>
            </a:br>
            <a:r>
              <a:rPr lang="en-US" sz="1300" dirty="0"/>
              <a:t>Provides detailed insights into </a:t>
            </a:r>
            <a:r>
              <a:rPr lang="en-US" sz="1300" b="1" dirty="0"/>
              <a:t>network flows, latency, and dropped packets</a:t>
            </a:r>
            <a:r>
              <a:rPr lang="en-US" sz="1300" dirty="0"/>
              <a:t> through tools like </a:t>
            </a:r>
            <a:r>
              <a:rPr lang="en-US" sz="1300" b="1" dirty="0"/>
              <a:t>Hubble</a:t>
            </a:r>
            <a:r>
              <a:rPr lang="en-US" sz="1300" dirty="0"/>
              <a:t>.</a:t>
            </a:r>
          </a:p>
          <a:p>
            <a:r>
              <a:rPr lang="en-US" sz="1300" b="1" dirty="0"/>
              <a:t>Dynamic Networking Policies</a:t>
            </a:r>
            <a:br>
              <a:rPr lang="en-US" sz="1300" dirty="0"/>
            </a:br>
            <a:r>
              <a:rPr lang="en-US" sz="1300" dirty="0"/>
              <a:t>Supports </a:t>
            </a:r>
            <a:r>
              <a:rPr lang="en-US" sz="1300" b="1" dirty="0"/>
              <a:t>fine-grained security policies</a:t>
            </a:r>
            <a:r>
              <a:rPr lang="en-US" sz="1300" dirty="0"/>
              <a:t> based on identities (labels) rather than static IP addresses.</a:t>
            </a:r>
          </a:p>
          <a:p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096DB4-FC23-9DF0-DE77-1AEE217DB0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3478532"/>
              </p:ext>
            </p:extLst>
          </p:nvPr>
        </p:nvGraphicFramePr>
        <p:xfrm>
          <a:off x="5911532" y="3130353"/>
          <a:ext cx="5150277" cy="2422048"/>
        </p:xfrm>
        <a:graphic>
          <a:graphicData uri="http://schemas.openxmlformats.org/drawingml/2006/table">
            <a:tbl>
              <a:tblPr/>
              <a:tblGrid>
                <a:gridCol w="1535989">
                  <a:extLst>
                    <a:ext uri="{9D8B030D-6E8A-4147-A177-3AD203B41FA5}">
                      <a16:colId xmlns:a16="http://schemas.microsoft.com/office/drawing/2014/main" val="2619230100"/>
                    </a:ext>
                  </a:extLst>
                </a:gridCol>
                <a:gridCol w="3614288">
                  <a:extLst>
                    <a:ext uri="{9D8B030D-6E8A-4147-A177-3AD203B41FA5}">
                      <a16:colId xmlns:a16="http://schemas.microsoft.com/office/drawing/2014/main" val="3225346250"/>
                    </a:ext>
                  </a:extLst>
                </a:gridCol>
              </a:tblGrid>
              <a:tr h="60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Tool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Purpose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321529"/>
                  </a:ext>
                </a:extLst>
              </a:tr>
              <a:tr h="60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Cilium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Kubernetes networking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928736"/>
                  </a:ext>
                </a:extLst>
              </a:tr>
              <a:tr h="60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Hubble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Network observability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882106"/>
                  </a:ext>
                </a:extLst>
              </a:tr>
              <a:tr h="605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Falco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Security monitoring</a:t>
                      </a:r>
                    </a:p>
                  </a:txBody>
                  <a:tcPr marL="116575" marR="116575" marT="58289" marB="58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4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F5D50D-399F-70C2-FEDD-15684E02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Compare IP tables Vs EBPF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F6E2265-549B-72E7-0E8C-AD7344AC82B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58713772"/>
              </p:ext>
            </p:extLst>
          </p:nvPr>
        </p:nvGraphicFramePr>
        <p:xfrm>
          <a:off x="1870369" y="2184851"/>
          <a:ext cx="8451652" cy="3796850"/>
        </p:xfrm>
        <a:graphic>
          <a:graphicData uri="http://schemas.openxmlformats.org/drawingml/2006/table">
            <a:tbl>
              <a:tblPr firstRow="1">
                <a:solidFill>
                  <a:schemeClr val="bg1"/>
                </a:solidFill>
                <a:tableStyleId>{284E427A-3D55-4303-BF80-6455036E1DE7}</a:tableStyleId>
              </a:tblPr>
              <a:tblGrid>
                <a:gridCol w="2881278">
                  <a:extLst>
                    <a:ext uri="{9D8B030D-6E8A-4147-A177-3AD203B41FA5}">
                      <a16:colId xmlns:a16="http://schemas.microsoft.com/office/drawing/2014/main" val="3099039446"/>
                    </a:ext>
                  </a:extLst>
                </a:gridCol>
                <a:gridCol w="2413356">
                  <a:extLst>
                    <a:ext uri="{9D8B030D-6E8A-4147-A177-3AD203B41FA5}">
                      <a16:colId xmlns:a16="http://schemas.microsoft.com/office/drawing/2014/main" val="892311566"/>
                    </a:ext>
                  </a:extLst>
                </a:gridCol>
                <a:gridCol w="3157018">
                  <a:extLst>
                    <a:ext uri="{9D8B030D-6E8A-4147-A177-3AD203B41FA5}">
                      <a16:colId xmlns:a16="http://schemas.microsoft.com/office/drawing/2014/main" val="4147176418"/>
                    </a:ext>
                  </a:extLst>
                </a:gridCol>
              </a:tblGrid>
              <a:tr h="75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cap="none" spc="0" baseline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cap="none" spc="0" baseline="0">
                          <a:solidFill>
                            <a:schemeClr val="bg1"/>
                          </a:solidFill>
                        </a:rPr>
                        <a:t>iptables</a:t>
                      </a:r>
                    </a:p>
                  </a:txBody>
                  <a:tcPr marL="208559" marR="235070" marT="160430" marB="1604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0" cap="none" spc="0" baseline="0">
                          <a:solidFill>
                            <a:schemeClr val="bg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eBPF</a:t>
                      </a:r>
                    </a:p>
                  </a:txBody>
                  <a:tcPr marL="208559" marR="235070" marT="160430" marB="1604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40932"/>
                  </a:ext>
                </a:extLst>
              </a:tr>
              <a:tr h="75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Rule processing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Sequential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Direct map lookup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805474"/>
                  </a:ext>
                </a:extLst>
              </a:tr>
              <a:tr h="75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Slower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Very fast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577383"/>
                  </a:ext>
                </a:extLst>
              </a:tr>
              <a:tr h="75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Observability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Deep visibility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731684"/>
                  </a:ext>
                </a:extLst>
              </a:tr>
              <a:tr h="75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Policy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L3/L4 mostly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L3/L4/L7</a:t>
                      </a:r>
                    </a:p>
                  </a:txBody>
                  <a:tcPr marL="208559" marR="235070" marT="160430" marB="160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759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14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314B1-48D6-057F-82AD-0DA96481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Cilium Observability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9F09-C871-DF8A-46A9-1FEE610C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994" y="1590840"/>
            <a:ext cx="5010506" cy="500753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Flow visibility</a:t>
            </a:r>
          </a:p>
          <a:p>
            <a:pPr>
              <a:buFont typeface="Wingdings" pitchFamily="2" charset="2"/>
              <a:buChar char="ü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DNS monitoring</a:t>
            </a:r>
          </a:p>
          <a:p>
            <a:pPr>
              <a:buFont typeface="Wingdings" pitchFamily="2" charset="2"/>
              <a:buChar char="ü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 request</a:t>
            </a:r>
          </a:p>
          <a:p>
            <a:pPr>
              <a:buFont typeface="Wingdings" pitchFamily="2" charset="2"/>
              <a:buChar char="ü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Tracing</a:t>
            </a:r>
            <a:endParaRPr lang="en-US" sz="4400" dirty="0">
              <a:solidFill>
                <a:srgbClr val="FFFFFF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Policy debugging</a:t>
            </a:r>
          </a:p>
          <a:p>
            <a:pPr>
              <a:buFont typeface="Wingdings" pitchFamily="2" charset="2"/>
              <a:buChar char="ü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Network flow logs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3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58222C-F49D-6F45-3F03-4F60335A44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0A25-E4CD-3377-AB28-D95B7FF9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Cilium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EB90CD-8BE2-2858-D89C-505B10561E8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534481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888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91BD-DFE3-84BF-33ED-3E49D250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Calico vs Cilium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74CFB-9389-C991-3E4B-CB9026A82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8661" y="1290320"/>
            <a:ext cx="6395139" cy="48866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/>
              <a:t>Calico: </a:t>
            </a:r>
          </a:p>
          <a:p>
            <a:pPr marL="457200" lvl="1" indent="0">
              <a:buNone/>
            </a:pPr>
            <a:r>
              <a:rPr lang="en-IN" dirty="0"/>
              <a:t>Pod → iptables → routing → destination pod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Cilium: </a:t>
            </a:r>
          </a:p>
          <a:p>
            <a:pPr marL="457200" lvl="1" indent="0">
              <a:buNone/>
            </a:pPr>
            <a:r>
              <a:rPr lang="en-IN" dirty="0"/>
              <a:t>Pod → </a:t>
            </a:r>
            <a:r>
              <a:rPr lang="en-IN" dirty="0" err="1"/>
              <a:t>eBPF</a:t>
            </a:r>
            <a:r>
              <a:rPr lang="en-IN" dirty="0"/>
              <a:t> program → policy + load balancing → destination pod</a:t>
            </a:r>
          </a:p>
          <a:p>
            <a:pPr>
              <a:buFont typeface="Wingdings" pitchFamily="2" charset="2"/>
              <a:buChar char="ü"/>
            </a:pPr>
            <a:endParaRPr lang="en-IN" dirty="0"/>
          </a:p>
          <a:p>
            <a:pPr>
              <a:buFont typeface="Wingdings" pitchFamily="2" charset="2"/>
              <a:buChar char="ü"/>
            </a:pPr>
            <a:r>
              <a:rPr lang="en-IN" dirty="0"/>
              <a:t>Calico → Traditional Kubernetes networking</a:t>
            </a:r>
          </a:p>
          <a:p>
            <a:pPr>
              <a:buFont typeface="Wingdings" pitchFamily="2" charset="2"/>
              <a:buChar char="ü"/>
            </a:pPr>
            <a:br>
              <a:rPr lang="en-IN" dirty="0"/>
            </a:br>
            <a:r>
              <a:rPr lang="en-IN" dirty="0"/>
              <a:t>Cilium → </a:t>
            </a:r>
            <a:r>
              <a:rPr lang="en-IN" dirty="0" err="1"/>
              <a:t>eBPF</a:t>
            </a:r>
            <a:r>
              <a:rPr lang="en-IN" dirty="0"/>
              <a:t>-powered modern networking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E0289E4-64F5-416F-75FD-276F5FA32F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9075874"/>
              </p:ext>
            </p:extLst>
          </p:nvPr>
        </p:nvGraphicFramePr>
        <p:xfrm>
          <a:off x="1025610" y="1556951"/>
          <a:ext cx="3745641" cy="369618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48547">
                  <a:extLst>
                    <a:ext uri="{9D8B030D-6E8A-4147-A177-3AD203B41FA5}">
                      <a16:colId xmlns:a16="http://schemas.microsoft.com/office/drawing/2014/main" val="966916433"/>
                    </a:ext>
                  </a:extLst>
                </a:gridCol>
                <a:gridCol w="1248547">
                  <a:extLst>
                    <a:ext uri="{9D8B030D-6E8A-4147-A177-3AD203B41FA5}">
                      <a16:colId xmlns:a16="http://schemas.microsoft.com/office/drawing/2014/main" val="592217844"/>
                    </a:ext>
                  </a:extLst>
                </a:gridCol>
                <a:gridCol w="1248547">
                  <a:extLst>
                    <a:ext uri="{9D8B030D-6E8A-4147-A177-3AD203B41FA5}">
                      <a16:colId xmlns:a16="http://schemas.microsoft.com/office/drawing/2014/main" val="2604946051"/>
                    </a:ext>
                  </a:extLst>
                </a:gridCol>
              </a:tblGrid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Feature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Calico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Cilium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300082797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Core Technology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iptables / routing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 err="1"/>
                        <a:t>eBPF</a:t>
                      </a:r>
                      <a:r>
                        <a:rPr lang="en-IN" sz="900" b="1" dirty="0"/>
                        <a:t> native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40769003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Packet Processing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Netfilter rules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 err="1"/>
                        <a:t>eBPF</a:t>
                      </a:r>
                      <a:r>
                        <a:rPr lang="en-IN" sz="900" b="1" dirty="0"/>
                        <a:t> kernel programs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80033569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Performance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Good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Very high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3801837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Network Policies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L3 / L4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L3 / L4 / L7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19540176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Observability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Limited logs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Built-in with Hubble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70890742"/>
                  </a:ext>
                </a:extLst>
              </a:tr>
              <a:tr h="482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kube-proxy Dependency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Usually required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Can fully replace kube-proxy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407667713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Service Load Balancing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kube-proxy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eBPF load balancing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120174051"/>
                  </a:ext>
                </a:extLst>
              </a:tr>
              <a:tr h="482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Scalability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iptables rule chains grow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Scales well with maps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99032913"/>
                  </a:ext>
                </a:extLst>
              </a:tr>
              <a:tr h="275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API-aware Security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Not supported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HTTP / gRPC filtering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13526490"/>
                  </a:ext>
                </a:extLst>
              </a:tr>
              <a:tr h="482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Architecture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Traditional networking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Next-generation kernel networking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769389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088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9DC1-4053-AD54-0A1F-7062BD04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and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A132-D7D9-9F77-6402-DFB80E7EF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3500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 dirty="0"/>
              <a:t>Cluster Components: </a:t>
            </a:r>
          </a:p>
          <a:p>
            <a:pPr marL="0" indent="0">
              <a:buNone/>
            </a:pPr>
            <a:endParaRPr lang="en-IN" sz="18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Control Plane (API Server, Scheduler, Controller Manager)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Worker Nodes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Namespaces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1800" b="1" dirty="0"/>
              <a:t>Cluster : </a:t>
            </a:r>
          </a:p>
          <a:p>
            <a:pPr marL="0" indent="0">
              <a:buNone/>
            </a:pPr>
            <a:r>
              <a:rPr lang="en-IN" sz="1800" dirty="0"/>
              <a:t>	server → Kubernetes API server address</a:t>
            </a:r>
          </a:p>
          <a:p>
            <a:pPr marL="457200" lvl="1" indent="0">
              <a:buNone/>
            </a:pPr>
            <a:br>
              <a:rPr lang="en-IN" sz="1400" dirty="0"/>
            </a:br>
            <a:r>
              <a:rPr lang="en-IN" sz="1400" dirty="0"/>
              <a:t>dev-cluster – dev ns - </a:t>
            </a:r>
            <a:r>
              <a:rPr lang="en-IN" sz="1400" dirty="0" err="1"/>
              <a:t>devuser</a:t>
            </a:r>
            <a:br>
              <a:rPr lang="en-IN" sz="1400" dirty="0"/>
            </a:br>
            <a:r>
              <a:rPr lang="en-IN" sz="1400" dirty="0"/>
              <a:t>staging-cluster</a:t>
            </a:r>
            <a:br>
              <a:rPr lang="en-IN" sz="1400" dirty="0"/>
            </a:br>
            <a:r>
              <a:rPr lang="en-IN" sz="1400" dirty="0"/>
              <a:t>production-cluster</a:t>
            </a:r>
            <a:br>
              <a:rPr lang="en-IN" sz="1400" dirty="0"/>
            </a:br>
            <a:r>
              <a:rPr lang="en-IN" sz="1400" dirty="0" err="1"/>
              <a:t>minikube</a:t>
            </a:r>
            <a:br>
              <a:rPr lang="en-IN" sz="1400" dirty="0"/>
            </a:br>
            <a:r>
              <a:rPr lang="en-IN" sz="1400" dirty="0"/>
              <a:t>kind-cluster</a:t>
            </a:r>
          </a:p>
          <a:p>
            <a:pPr>
              <a:buFont typeface="Wingdings" pitchFamily="2" charset="2"/>
              <a:buChar char="Ø"/>
            </a:pPr>
            <a:r>
              <a:rPr lang="en-IN" sz="1800" b="1" dirty="0"/>
              <a:t>Config</a:t>
            </a:r>
            <a:br>
              <a:rPr lang="en-IN" sz="1800" dirty="0"/>
            </a:br>
            <a:r>
              <a:rPr lang="en-IN" sz="1800" dirty="0"/>
              <a:t>- name: dev-cluster</a:t>
            </a:r>
            <a:br>
              <a:rPr lang="en-IN" sz="1800" dirty="0"/>
            </a:br>
            <a:r>
              <a:rPr lang="en-IN" sz="1800" dirty="0"/>
              <a:t>cluster:</a:t>
            </a:r>
            <a:br>
              <a:rPr lang="en-IN" sz="1800" dirty="0"/>
            </a:br>
            <a:r>
              <a:rPr lang="en-IN" sz="1800" dirty="0"/>
              <a:t>server: https://192.168.49.2:6443</a:t>
            </a:r>
            <a:br>
              <a:rPr lang="en-IN" sz="1800" dirty="0"/>
            </a:br>
            <a:r>
              <a:rPr lang="en-IN" sz="1800" dirty="0"/>
              <a:t>certificate-authority-data: ...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48C3A1-8472-3FD3-BC99-AEBAA57D7A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Context : </a:t>
            </a:r>
            <a:r>
              <a:rPr lang="en-IN" dirty="0"/>
              <a:t>Cluster + User + Namespace</a:t>
            </a:r>
          </a:p>
          <a:p>
            <a:pPr marL="0" indent="0">
              <a:buNone/>
            </a:pPr>
            <a:endParaRPr lang="en-IN" b="1" dirty="0"/>
          </a:p>
          <a:p>
            <a:pPr>
              <a:buFont typeface="Wingdings" pitchFamily="2" charset="2"/>
              <a:buChar char="Ø"/>
            </a:pPr>
            <a:r>
              <a:rPr lang="en-IN" b="1" dirty="0"/>
              <a:t>Config:</a:t>
            </a:r>
            <a:br>
              <a:rPr lang="en-IN" dirty="0"/>
            </a:br>
            <a:r>
              <a:rPr lang="en-IN" dirty="0"/>
              <a:t>- name: dev-context</a:t>
            </a:r>
            <a:br>
              <a:rPr lang="en-IN" dirty="0"/>
            </a:br>
            <a:r>
              <a:rPr lang="en-IN" dirty="0"/>
              <a:t>context:</a:t>
            </a:r>
            <a:br>
              <a:rPr lang="en-IN" dirty="0"/>
            </a:br>
            <a:r>
              <a:rPr lang="en-IN" dirty="0"/>
              <a:t>cluster: dev-cluster</a:t>
            </a:r>
            <a:br>
              <a:rPr lang="en-IN" dirty="0"/>
            </a:br>
            <a:r>
              <a:rPr lang="en-IN" dirty="0"/>
              <a:t>user: dev-user</a:t>
            </a:r>
            <a:br>
              <a:rPr lang="en-IN" dirty="0"/>
            </a:br>
            <a:r>
              <a:rPr lang="en-IN" dirty="0"/>
              <a:t>namespace: demo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kubectl</a:t>
            </a:r>
            <a:r>
              <a:rPr lang="en-IN" dirty="0"/>
              <a:t> → dev-cluster → as dev-user → in demo namespace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29931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EBD7-D1BE-A8B6-C221-14252EB9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Clusters  | Context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4CEA-FDCB-C9A2-78D0-5346AA3B31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 err="1"/>
              <a:t>kubectl</a:t>
            </a:r>
            <a:r>
              <a:rPr lang="en-IN" dirty="0"/>
              <a:t> config current-context</a:t>
            </a:r>
          </a:p>
          <a:p>
            <a:r>
              <a:rPr lang="en-IN" dirty="0" err="1"/>
              <a:t>kubectl</a:t>
            </a:r>
            <a:r>
              <a:rPr lang="en-IN" dirty="0"/>
              <a:t> config get-contexts</a:t>
            </a:r>
          </a:p>
          <a:p>
            <a:r>
              <a:rPr lang="en-IN" dirty="0" err="1"/>
              <a:t>kubectl</a:t>
            </a:r>
            <a:r>
              <a:rPr lang="en-IN" dirty="0"/>
              <a:t> config use-context prod-context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C4624-C329-72C0-5E50-DFA2F8D281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kubeconfig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Cluster</a:t>
            </a:r>
            <a:br>
              <a:rPr lang="en-IN" dirty="0"/>
            </a:br>
            <a:r>
              <a:rPr lang="en-IN" dirty="0"/>
              <a:t>│ └── API Server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User</a:t>
            </a:r>
            <a:br>
              <a:rPr lang="en-IN" dirty="0"/>
            </a:br>
            <a:r>
              <a:rPr lang="en-IN" dirty="0"/>
              <a:t>│ └── Credentials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Context</a:t>
            </a:r>
            <a:br>
              <a:rPr lang="en-IN" dirty="0"/>
            </a:br>
            <a:r>
              <a:rPr lang="en-IN" dirty="0"/>
              <a:t>└── Cluster + User + Namespace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69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3CDB-A0F2-DEC4-8A52-19C4FBF8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ETCD </a:t>
            </a:r>
          </a:p>
        </p:txBody>
      </p:sp>
      <p:pic>
        <p:nvPicPr>
          <p:cNvPr id="8" name="Content Placeholder 7" descr="A diagram of a cloud server&#10;&#10;AI-generated content may be incorrect.">
            <a:extLst>
              <a:ext uri="{FF2B5EF4-FFF2-40B4-BE49-F238E27FC236}">
                <a16:creationId xmlns:a16="http://schemas.microsoft.com/office/drawing/2014/main" id="{867F9142-87D0-FBDA-0D97-28095CF7F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150" y="1661564"/>
            <a:ext cx="9448406" cy="4515399"/>
          </a:xfrm>
        </p:spPr>
      </p:pic>
    </p:spTree>
    <p:extLst>
      <p:ext uri="{BB962C8B-B14F-4D97-AF65-F5344CB8AC3E}">
        <p14:creationId xmlns:p14="http://schemas.microsoft.com/office/powerpoint/2010/main" val="358363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6A80-87C5-1245-77F2-045AD15BE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2F56F-640D-D3A3-560A-4C813202A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149080" cy="4351338"/>
          </a:xfrm>
        </p:spPr>
        <p:txBody>
          <a:bodyPr/>
          <a:lstStyle/>
          <a:p>
            <a:r>
              <a:rPr lang="en-US" dirty="0"/>
              <a:t>Cilium Network Policy for endpoints , </a:t>
            </a:r>
            <a:r>
              <a:rPr lang="en-US" dirty="0" err="1"/>
              <a:t>Namspace</a:t>
            </a:r>
            <a:r>
              <a:rPr lang="en-US" dirty="0"/>
              <a:t>, UDP, IP address Based policy, CIDR address allow /Deny </a:t>
            </a:r>
          </a:p>
        </p:txBody>
      </p:sp>
    </p:spTree>
    <p:extLst>
      <p:ext uri="{BB962C8B-B14F-4D97-AF65-F5344CB8AC3E}">
        <p14:creationId xmlns:p14="http://schemas.microsoft.com/office/powerpoint/2010/main" val="179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EB4356-EEC0-AC44-91BA-06B18AF5A713}">
  <we:reference id="wa200003052" version="7.0.0.0" store="en-IN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1403</TotalTime>
  <Words>722</Words>
  <Application>Microsoft Macintosh PowerPoint</Application>
  <PresentationFormat>Widescreen</PresentationFormat>
  <Paragraphs>149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Week2 - Day2</vt:lpstr>
      <vt:lpstr>EBPF in Linux Kernel</vt:lpstr>
      <vt:lpstr>Cilium - Networking with eBPF </vt:lpstr>
      <vt:lpstr>Advantages of Cilium Networking</vt:lpstr>
      <vt:lpstr>Compare IP tables Vs EBPF </vt:lpstr>
      <vt:lpstr>Cilium Observability </vt:lpstr>
      <vt:lpstr>Cilium </vt:lpstr>
      <vt:lpstr>Calico vs Cilium </vt:lpstr>
      <vt:lpstr>Cluster and Context</vt:lpstr>
      <vt:lpstr>Clusters  | Context </vt:lpstr>
      <vt:lpstr>ETCD </vt:lpstr>
      <vt:lpstr>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Anbalagan</dc:creator>
  <cp:lastModifiedBy>Lavanya Anbalagan</cp:lastModifiedBy>
  <cp:revision>2</cp:revision>
  <dcterms:created xsi:type="dcterms:W3CDTF">2026-03-07T10:01:29Z</dcterms:created>
  <dcterms:modified xsi:type="dcterms:W3CDTF">2026-03-08T09:25:28Z</dcterms:modified>
</cp:coreProperties>
</file>