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6" r:id="rId10"/>
    <p:sldId id="275" r:id="rId11"/>
    <p:sldId id="278" r:id="rId12"/>
    <p:sldId id="258" r:id="rId13"/>
    <p:sldId id="279" r:id="rId14"/>
    <p:sldId id="280" r:id="rId15"/>
    <p:sldId id="281" r:id="rId16"/>
    <p:sldId id="260" r:id="rId17"/>
    <p:sldId id="262" r:id="rId18"/>
    <p:sldId id="263" r:id="rId19"/>
    <p:sldId id="293" r:id="rId20"/>
    <p:sldId id="294" r:id="rId21"/>
    <p:sldId id="295" r:id="rId22"/>
    <p:sldId id="264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1" r:id="rId31"/>
    <p:sldId id="289" r:id="rId32"/>
    <p:sldId id="290" r:id="rId33"/>
    <p:sldId id="292" r:id="rId34"/>
    <p:sldId id="266" r:id="rId35"/>
    <p:sldId id="26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/>
    <p:restoredTop sz="94659"/>
  </p:normalViewPr>
  <p:slideViewPr>
    <p:cSldViewPr snapToGrid="0">
      <p:cViewPr varScale="1">
        <p:scale>
          <a:sx n="146" d="100"/>
          <a:sy n="146" d="100"/>
        </p:scale>
        <p:origin x="1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66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35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89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7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59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0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1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94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80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F34FC-A243-E849-AE30-7DF1E4C3350F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B52567D-4C4F-324C-86AF-FAC1AD2F7A0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12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gera.io/blog/ingress-nginx-controller-is-dead-should-you-move-to-gateway-api/" TargetMode="External"/><Relationship Id="rId2" Type="http://schemas.openxmlformats.org/officeDocument/2006/relationships/hyperlink" Target="https://kubernetes.io/blog/2025/11/11/ingress-nginx-retiremen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teway-api.sigs.k8s.io/guides/getting-started/simple-gateway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rixkube.org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BDF6-70FA-149F-4A22-F0491A05A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EFDF2-0257-A6DF-AA81-64CE2CAEA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Exposing Applications &amp; Service Mesh in Kubernetes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5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B37D-F93B-7840-1D51-78DF6D1C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0A751-4033-80AC-34D4-AF9C8364C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Load Balancer </a:t>
            </a:r>
          </a:p>
          <a:p>
            <a:pPr marL="0" indent="0">
              <a:buNone/>
            </a:pPr>
            <a:r>
              <a:rPr lang="en-US" dirty="0" err="1"/>
              <a:t>MetaLB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Ingress Controller – Nginx </a:t>
            </a:r>
          </a:p>
          <a:p>
            <a:pPr marL="0" indent="0">
              <a:buNone/>
            </a:pPr>
            <a:r>
              <a:rPr lang="en-US" dirty="0"/>
              <a:t>Service Mesh with Istio </a:t>
            </a:r>
          </a:p>
        </p:txBody>
      </p:sp>
    </p:spTree>
    <p:extLst>
      <p:ext uri="{BB962C8B-B14F-4D97-AF65-F5344CB8AC3E}">
        <p14:creationId xmlns:p14="http://schemas.microsoft.com/office/powerpoint/2010/main" val="187094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8D69-86B2-9972-7E60-6DAA3C72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403" y="831413"/>
            <a:ext cx="9603275" cy="1049235"/>
          </a:xfrm>
        </p:spPr>
        <p:txBody>
          <a:bodyPr/>
          <a:lstStyle/>
          <a:p>
            <a:r>
              <a:rPr lang="en-US" dirty="0"/>
              <a:t>EXPOSE Application - Load Balancer</a:t>
            </a:r>
          </a:p>
        </p:txBody>
      </p:sp>
      <p:pic>
        <p:nvPicPr>
          <p:cNvPr id="1027" name="Picture 3" descr="What is a Kubernetes Service? Explained With Types!">
            <a:extLst>
              <a:ext uri="{FF2B5EF4-FFF2-40B4-BE49-F238E27FC236}">
                <a16:creationId xmlns:a16="http://schemas.microsoft.com/office/drawing/2014/main" id="{AC919E9B-1AE4-A74F-3AEA-E5C3E3C54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482" y="1999978"/>
            <a:ext cx="4979753" cy="389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37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CE40-A0B6-5AE4-55BD-CF681A39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of Load Balancers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0C8C-D4FE-D1EA-63EE-A51982CE7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Cost - 10 services → </a:t>
            </a:r>
            <a:r>
              <a:rPr lang="en-IN" b="1" dirty="0"/>
              <a:t>10 load balancers 💰 ,  Pay for External IP, Traffic in/out</a:t>
            </a:r>
          </a:p>
          <a:p>
            <a:r>
              <a:rPr lang="en-IN" dirty="0"/>
              <a:t>One IP per Service – DNS Management , Scaling issue </a:t>
            </a:r>
          </a:p>
          <a:p>
            <a:r>
              <a:rPr lang="en-IN" dirty="0"/>
              <a:t>Vendor Dependency (Cloud Lock-in)</a:t>
            </a:r>
          </a:p>
          <a:p>
            <a:r>
              <a:rPr lang="en-IN" dirty="0"/>
              <a:t>Slow Provisioning </a:t>
            </a:r>
          </a:p>
          <a:p>
            <a:r>
              <a:rPr lang="en-IN" dirty="0"/>
              <a:t>Not Available on Bare Metal - </a:t>
            </a:r>
            <a:r>
              <a:rPr lang="en-IN" dirty="0" err="1"/>
              <a:t>MetaLB</a:t>
            </a:r>
            <a:endParaRPr lang="en-IN" dirty="0"/>
          </a:p>
          <a:p>
            <a:r>
              <a:rPr lang="en-IN" dirty="0"/>
              <a:t>Less Flexible Traffic Control – Service Mesh with Istio </a:t>
            </a:r>
          </a:p>
          <a:p>
            <a:r>
              <a:rPr lang="en-IN" dirty="0"/>
              <a:t>Limited Routing (Layer 4 only) , Not possible to do Path-based routing (/</a:t>
            </a:r>
            <a:r>
              <a:rPr lang="en-IN" dirty="0" err="1"/>
              <a:t>api</a:t>
            </a:r>
            <a:r>
              <a:rPr lang="en-IN" dirty="0"/>
              <a:t>, /app) Host-based routing (</a:t>
            </a:r>
            <a:r>
              <a:rPr lang="en-IN" dirty="0" err="1"/>
              <a:t>app.com</a:t>
            </a:r>
            <a:r>
              <a:rPr lang="en-IN" dirty="0"/>
              <a:t>, </a:t>
            </a:r>
            <a:r>
              <a:rPr lang="en-IN" dirty="0" err="1"/>
              <a:t>api.com</a:t>
            </a:r>
            <a:r>
              <a:rPr lang="en-IN" dirty="0"/>
              <a:t>) – Ingress controller</a:t>
            </a:r>
          </a:p>
          <a:p>
            <a:r>
              <a:rPr lang="en-IN" dirty="0"/>
              <a:t>Limited Security Features – No auth, No Rate Limiting, No WAF – Ingress Gateway /WAF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3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AEF8-3A36-D0E8-3333-023ECD961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208388-E2D4-1943-01CD-5706EE1CB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796889"/>
              </p:ext>
            </p:extLst>
          </p:nvPr>
        </p:nvGraphicFramePr>
        <p:xfrm>
          <a:off x="1450975" y="2826544"/>
          <a:ext cx="9604374" cy="1828800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1402147762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428674260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724014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LoadBalancer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Better Alternative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382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08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92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Traffic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36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Bare metal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MetalLB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89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92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5BB3-2936-79CE-CE45-18A6E165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MetaLB</a:t>
            </a:r>
            <a:r>
              <a:rPr lang="en-US" dirty="0"/>
              <a:t> in K8s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7925-5EB8-7BBA-4AB3-5FF87BA75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Core Components</a:t>
            </a:r>
          </a:p>
          <a:p>
            <a:r>
              <a:rPr lang="en-IN" dirty="0"/>
              <a:t> </a:t>
            </a:r>
            <a:r>
              <a:rPr lang="en-IN" b="1" dirty="0"/>
              <a:t>Controller (</a:t>
            </a:r>
            <a:r>
              <a:rPr lang="en-IN" dirty="0"/>
              <a:t>IP allocator)</a:t>
            </a:r>
            <a:r>
              <a:rPr lang="en-IN" b="1" dirty="0"/>
              <a:t> – Runs inside cluster , Watches service of Type LB, Assigns IP from the IP pool </a:t>
            </a:r>
          </a:p>
          <a:p>
            <a:r>
              <a:rPr lang="en-IN" b="1" dirty="0"/>
              <a:t>Speaker (</a:t>
            </a:r>
            <a:r>
              <a:rPr lang="en-IN" dirty="0"/>
              <a:t>IP announcer) </a:t>
            </a:r>
            <a:r>
              <a:rPr lang="en-IN" b="1" dirty="0"/>
              <a:t>– Daemon set, Announced Assigned IP to the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5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EBF3-5497-B972-4A92-607097F9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Flow with METALB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8706-8786-A895-BDC3-21488CB1F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You create a service:</a:t>
            </a:r>
          </a:p>
          <a:p>
            <a:pPr marL="457200" lvl="1" indent="0">
              <a:buNone/>
            </a:pPr>
            <a:r>
              <a:rPr lang="en-IN" dirty="0"/>
              <a:t>type: </a:t>
            </a:r>
            <a:r>
              <a:rPr lang="en-IN" dirty="0" err="1"/>
              <a:t>LoadBalancer</a:t>
            </a:r>
            <a:endParaRPr lang="en-IN" dirty="0"/>
          </a:p>
          <a:p>
            <a:r>
              <a:rPr lang="en-IN" dirty="0" err="1"/>
              <a:t>MetalLB</a:t>
            </a:r>
            <a:r>
              <a:rPr lang="en-IN" dirty="0"/>
              <a:t> Controller: </a:t>
            </a:r>
          </a:p>
          <a:p>
            <a:pPr marL="457200" lvl="1" indent="0">
              <a:buNone/>
            </a:pPr>
            <a:r>
              <a:rPr lang="en-IN" dirty="0"/>
              <a:t>Picks an IP (e.g., 192.168.1.100) </a:t>
            </a:r>
          </a:p>
          <a:p>
            <a:r>
              <a:rPr lang="en-IN" dirty="0"/>
              <a:t>Speaker: </a:t>
            </a:r>
          </a:p>
          <a:p>
            <a:pPr marL="457200" lvl="1" indent="0">
              <a:buNone/>
            </a:pPr>
            <a:r>
              <a:rPr lang="en-IN" dirty="0"/>
              <a:t>Announces: “I own this IP” </a:t>
            </a:r>
          </a:p>
          <a:p>
            <a:r>
              <a:rPr lang="en-IN" dirty="0"/>
              <a:t>External client: </a:t>
            </a:r>
          </a:p>
          <a:p>
            <a:pPr marL="457200" lvl="1" indent="0">
              <a:buNone/>
            </a:pPr>
            <a:r>
              <a:rPr lang="en-IN" dirty="0"/>
              <a:t>Sends request to that IP </a:t>
            </a:r>
          </a:p>
          <a:p>
            <a:r>
              <a:rPr lang="en-IN" dirty="0"/>
              <a:t>Traffic reaches node: </a:t>
            </a:r>
          </a:p>
          <a:p>
            <a:pPr marL="457200" lvl="1" indent="0">
              <a:buNone/>
            </a:pPr>
            <a:r>
              <a:rPr lang="en-IN" dirty="0"/>
              <a:t>Forwarded to Kubernetes Service </a:t>
            </a:r>
          </a:p>
          <a:p>
            <a:r>
              <a:rPr lang="en-IN" dirty="0"/>
              <a:t>Service: </a:t>
            </a:r>
          </a:p>
          <a:p>
            <a:pPr marL="457200" lvl="1" indent="0">
              <a:buNone/>
            </a:pPr>
            <a:r>
              <a:rPr lang="en-IN" dirty="0"/>
              <a:t>Routes to Pods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79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C6BD6-A37A-7647-463B-FC0BACB1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100" dirty="0"/>
              <a:t>Ingress Controller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4871F-1DF2-3C0A-A100-97034888C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74" y="1125287"/>
            <a:ext cx="6282919" cy="38482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86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4A239-EC95-C7C6-1FD4-48B956C6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Deprecated Notice – Nginx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1289-80CC-6FE0-4DEF-70EF7F5EB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hlinkClick r:id="rId2"/>
              </a:rPr>
              <a:t>https://kubernetes.io/blog/2025/11/11/ingress-nginx-retirement/</a:t>
            </a:r>
            <a:endParaRPr lang="en-IN" b="1" dirty="0"/>
          </a:p>
          <a:p>
            <a:r>
              <a:rPr lang="en-IN" b="1" dirty="0"/>
              <a:t>Gateway API implementations to consider:</a:t>
            </a:r>
            <a:endParaRPr lang="en-IN" dirty="0"/>
          </a:p>
          <a:p>
            <a:pPr lvl="1"/>
            <a:r>
              <a:rPr lang="en-IN" dirty="0"/>
              <a:t>Istio Gateway (if using a service mesh)</a:t>
            </a:r>
          </a:p>
          <a:p>
            <a:pPr lvl="1"/>
            <a:r>
              <a:rPr lang="en-IN" dirty="0"/>
              <a:t>Contour</a:t>
            </a:r>
          </a:p>
          <a:p>
            <a:pPr lvl="1"/>
            <a:r>
              <a:rPr lang="en-IN" dirty="0" err="1"/>
              <a:t>Traefik</a:t>
            </a:r>
            <a:r>
              <a:rPr lang="en-IN" dirty="0"/>
              <a:t> v3</a:t>
            </a:r>
          </a:p>
          <a:p>
            <a:pPr lvl="1"/>
            <a:r>
              <a:rPr lang="en-IN" dirty="0"/>
              <a:t>Envoy Gateway</a:t>
            </a:r>
          </a:p>
          <a:p>
            <a:pPr lvl="1"/>
            <a:r>
              <a:rPr lang="en-IN" dirty="0">
                <a:hlinkClick r:id="rId3"/>
              </a:rPr>
              <a:t>Calico Ingress Gateway</a:t>
            </a:r>
            <a:r>
              <a:rPr lang="en-IN" dirty="0"/>
              <a:t> </a:t>
            </a:r>
          </a:p>
          <a:p>
            <a:pPr lvl="1"/>
            <a:r>
              <a:rPr lang="en-IN" dirty="0"/>
              <a:t>Cilium Ingress Gateway</a:t>
            </a:r>
          </a:p>
          <a:p>
            <a:pPr lvl="1"/>
            <a:r>
              <a:rPr lang="en-IN" dirty="0"/>
              <a:t>Kong </a:t>
            </a:r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21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548E-7840-8F02-5B72-802E0835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111AB-CC82-D2A7-8AB3-6A1E7DF03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✅ Features</a:t>
            </a:r>
            <a:endParaRPr lang="en-IN" dirty="0"/>
          </a:p>
          <a:p>
            <a:pPr lvl="1"/>
            <a:r>
              <a:rPr lang="en-IN" dirty="0"/>
              <a:t>Path-based routing </a:t>
            </a:r>
          </a:p>
          <a:p>
            <a:pPr lvl="1"/>
            <a:r>
              <a:rPr lang="en-IN" dirty="0"/>
              <a:t>Host-based routing </a:t>
            </a:r>
          </a:p>
          <a:p>
            <a:pPr lvl="1"/>
            <a:r>
              <a:rPr lang="en-IN" dirty="0"/>
              <a:t>SSL/TLS termination </a:t>
            </a:r>
          </a:p>
          <a:p>
            <a:pPr lvl="1"/>
            <a:r>
              <a:rPr lang="en-IN" dirty="0"/>
              <a:t>Traffic Splitting, Advanced </a:t>
            </a:r>
          </a:p>
          <a:p>
            <a:pPr marL="457200" lvl="1" indent="0">
              <a:buNone/>
            </a:pPr>
            <a:r>
              <a:rPr lang="en-IN" b="1" dirty="0"/>
              <a:t>Use Case</a:t>
            </a:r>
          </a:p>
          <a:p>
            <a:pPr lvl="1"/>
            <a:r>
              <a:rPr lang="en-IN" dirty="0"/>
              <a:t>Load balancing Simple architectures </a:t>
            </a:r>
          </a:p>
          <a:p>
            <a:pPr lvl="1"/>
            <a:r>
              <a:rPr lang="en-IN" dirty="0"/>
              <a:t>Few services </a:t>
            </a:r>
          </a:p>
          <a:p>
            <a:pPr lvl="1"/>
            <a:r>
              <a:rPr lang="en-IN" dirty="0"/>
              <a:t>Basic routing needs 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b="1" dirty="0"/>
              <a:t>❌ Limitations</a:t>
            </a:r>
            <a:endParaRPr lang="en-IN" dirty="0"/>
          </a:p>
          <a:p>
            <a:pPr lvl="1"/>
            <a:r>
              <a:rPr lang="en-IN" dirty="0"/>
              <a:t>Limited advanced traffic control </a:t>
            </a:r>
          </a:p>
          <a:p>
            <a:pPr lvl="1"/>
            <a:r>
              <a:rPr lang="en-IN" dirty="0"/>
              <a:t>No built-in service mesh features </a:t>
            </a:r>
          </a:p>
          <a:p>
            <a:pPr lvl="1"/>
            <a:r>
              <a:rPr lang="en-IN" dirty="0"/>
              <a:t>Basic observability</a:t>
            </a:r>
          </a:p>
          <a:p>
            <a:pPr lvl="0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599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07C0-95BB-8B8C-249C-8222389A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GATEWAY API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378DD-A5AE-2B75-4AE6-50C0A96A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https://gateway-api.sigs.k8s.io/guides/getting-started/</a:t>
            </a:r>
          </a:p>
          <a:p>
            <a:r>
              <a:rPr lang="en-US" dirty="0">
                <a:hlinkClick r:id="rId2"/>
              </a:rPr>
              <a:t>https://gateway-api.sigs.k8s.io/guides/getting-started/simple-gateway/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65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4F92-6CD3-D271-6F9E-149B2054E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Ingress Controllers /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CB9B-736E-C61E-EA04-5774A983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TLS encryption</a:t>
            </a:r>
          </a:p>
          <a:p>
            <a:pPr lvl="0"/>
            <a:r>
              <a:rPr lang="en-IN" dirty="0"/>
              <a:t>Retry logic</a:t>
            </a:r>
          </a:p>
          <a:p>
            <a:pPr lvl="0"/>
            <a:r>
              <a:rPr lang="en-IN" dirty="0"/>
              <a:t>Load balancing</a:t>
            </a:r>
          </a:p>
          <a:p>
            <a:pPr lvl="0"/>
            <a:r>
              <a:rPr lang="en-IN" dirty="0"/>
              <a:t>Monitoring</a:t>
            </a:r>
          </a:p>
          <a:p>
            <a:pPr lvl="0"/>
            <a:r>
              <a:rPr lang="en-IN" dirty="0"/>
              <a:t>Traffic Management</a:t>
            </a:r>
          </a:p>
          <a:p>
            <a:pPr lvl="0"/>
            <a:r>
              <a:rPr lang="en-IN" dirty="0"/>
              <a:t>Failure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53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85F5-8782-0A42-FDFF-6D4F8282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Istio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1250C-561D-6333-2B6E-59AB32E0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istio.io</a:t>
            </a:r>
            <a:r>
              <a:rPr lang="en-US" dirty="0"/>
              <a:t>/latest/docs/ops/deployment/architecture/</a:t>
            </a:r>
          </a:p>
        </p:txBody>
      </p:sp>
    </p:spTree>
    <p:extLst>
      <p:ext uri="{BB962C8B-B14F-4D97-AF65-F5344CB8AC3E}">
        <p14:creationId xmlns:p14="http://schemas.microsoft.com/office/powerpoint/2010/main" val="1375427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D561-A5A7-EBF5-352B-D5E91C70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Istio Sidecar ?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C5E8C2-D06D-F261-1B06-29842E17B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853754"/>
            <a:ext cx="7289613" cy="1357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5C2A8A-0972-3391-7E74-38580E7D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8" y="3429000"/>
            <a:ext cx="7289613" cy="227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8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8F14C-E3C5-E7FE-51DA-94C02000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Istio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9FAB0-3B70-E254-8896-9E1825490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568" y="2016125"/>
            <a:ext cx="664318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4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531A-0F03-0D10-014F-9B039080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Istio solves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88619-F857-C074-11B6-26C01A8EF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Service Mesh uses </a:t>
            </a:r>
            <a:r>
              <a:rPr lang="en-IN" b="1" dirty="0"/>
              <a:t>Sidecar Proxy Pattern</a:t>
            </a:r>
            <a:endParaRPr lang="en-IN" dirty="0"/>
          </a:p>
          <a:p>
            <a:r>
              <a:rPr lang="en-IN" dirty="0"/>
              <a:t>Each service pod gets:</a:t>
            </a:r>
          </a:p>
          <a:p>
            <a:pPr lvl="1"/>
            <a:r>
              <a:rPr lang="en-IN" dirty="0"/>
              <a:t>Application Container</a:t>
            </a:r>
            <a:br>
              <a:rPr lang="en-IN" dirty="0"/>
            </a:br>
            <a:r>
              <a:rPr lang="en-IN" dirty="0"/>
              <a:t>Sidecar Proxy (Envoy)</a:t>
            </a:r>
          </a:p>
          <a:p>
            <a:r>
              <a:rPr lang="en-US" dirty="0"/>
              <a:t>Envoy proxy</a:t>
            </a:r>
          </a:p>
          <a:p>
            <a:pPr lvl="0"/>
            <a:r>
              <a:rPr lang="en-IN" dirty="0"/>
              <a:t>monitor traffic</a:t>
            </a:r>
          </a:p>
          <a:p>
            <a:pPr lvl="0"/>
            <a:r>
              <a:rPr lang="en-IN" dirty="0"/>
              <a:t>enforce security</a:t>
            </a:r>
          </a:p>
          <a:p>
            <a:pPr lvl="0"/>
            <a:r>
              <a:rPr lang="en-IN" dirty="0"/>
              <a:t>control routing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671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AA1C-9FC8-4D22-03C6-92BA8DF6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Envoy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9609-DB2D-830D-05DB-7CBB1737D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base"/>
            <a:r>
              <a:rPr lang="en-IN" dirty="0"/>
              <a:t>Envoy proxies are the only Istio components that interact with data plane traffic.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smart network proxy</a:t>
            </a:r>
            <a:r>
              <a:rPr lang="en-IN" dirty="0"/>
              <a:t> </a:t>
            </a:r>
          </a:p>
          <a:p>
            <a:r>
              <a:rPr lang="en-IN" dirty="0"/>
              <a:t>Pod</a:t>
            </a:r>
            <a:br>
              <a:rPr lang="en-IN" dirty="0"/>
            </a:br>
            <a:endParaRPr lang="en-IN" dirty="0"/>
          </a:p>
          <a:p>
            <a:r>
              <a:rPr lang="en-IN" dirty="0"/>
              <a:t> ├── Application Container</a:t>
            </a:r>
            <a:br>
              <a:rPr lang="en-IN" dirty="0"/>
            </a:br>
            <a:endParaRPr lang="en-IN" dirty="0"/>
          </a:p>
          <a:p>
            <a:r>
              <a:rPr lang="en-IN" dirty="0"/>
              <a:t> └── Envoy Sidecar Proxy</a:t>
            </a:r>
          </a:p>
          <a:p>
            <a:r>
              <a:rPr lang="en-IN" dirty="0"/>
              <a:t>Before:</a:t>
            </a:r>
          </a:p>
          <a:p>
            <a:r>
              <a:rPr lang="en-IN" dirty="0"/>
              <a:t>Service A -&gt; service B </a:t>
            </a:r>
          </a:p>
          <a:p>
            <a:r>
              <a:rPr lang="en-IN" dirty="0"/>
              <a:t>After: </a:t>
            </a:r>
          </a:p>
          <a:p>
            <a:r>
              <a:rPr lang="en-IN" dirty="0"/>
              <a:t>Service A → Envoy → Envoy → Service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7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8936-7493-87D0-FA92-9B641686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Istio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A8569-6C1E-D5D1-BA3B-4C1641104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Istioctl</a:t>
            </a:r>
            <a:r>
              <a:rPr lang="en-US" dirty="0"/>
              <a:t> </a:t>
            </a:r>
          </a:p>
          <a:p>
            <a:r>
              <a:rPr lang="en-US" dirty="0"/>
              <a:t>Helm chart </a:t>
            </a:r>
          </a:p>
          <a:p>
            <a:r>
              <a:rPr lang="en-US" dirty="0"/>
              <a:t>K8s manifests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71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764F-C366-8A42-90F1-065DFE01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GAteway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75D41B-8C43-A1D2-398B-7539223D58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35313" y="2011363"/>
            <a:ext cx="4269998" cy="34480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FA378A-46CC-7A7D-F422-36C4BE1BE8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Hosts: </a:t>
            </a:r>
          </a:p>
          <a:p>
            <a:pPr lvl="1"/>
            <a:r>
              <a:rPr lang="en-US" dirty="0">
                <a:hlinkClick r:id="rId3"/>
              </a:rPr>
              <a:t>https://matrixkube.org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345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3A60-D8EF-ADCB-F739-8CA6AD66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SERVICE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91F98D-18DE-0CD2-E514-E0C6226C7E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43851" y="1963551"/>
            <a:ext cx="3826427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97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FB1F-FA6E-EC89-813D-794F7ADA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DESTINATION RULE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03171-8834-7493-0F33-2C6C82E30F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065991"/>
            <a:ext cx="4645025" cy="33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74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B96E-4D5B-0D9F-057A-2C803217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CF04-CA15-A546-1EA8-2E0F9C188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Blue Green Deployment</a:t>
            </a:r>
          </a:p>
          <a:p>
            <a:r>
              <a:rPr lang="en-US" dirty="0"/>
              <a:t>Canary Rollout</a:t>
            </a:r>
          </a:p>
          <a:p>
            <a:r>
              <a:rPr lang="en-US" dirty="0"/>
              <a:t>Traffic Mirroring</a:t>
            </a:r>
          </a:p>
        </p:txBody>
      </p:sp>
    </p:spTree>
    <p:extLst>
      <p:ext uri="{BB962C8B-B14F-4D97-AF65-F5344CB8AC3E}">
        <p14:creationId xmlns:p14="http://schemas.microsoft.com/office/powerpoint/2010/main" val="3555474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E3-2358-E633-1935-6A2DAE40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 Green DEPLOYMENT</a:t>
            </a:r>
          </a:p>
        </p:txBody>
      </p:sp>
      <p:pic>
        <p:nvPicPr>
          <p:cNvPr id="8" name="Content Placeholder 7" descr="A diagram of a cloud service&#10;&#10;AI-generated content may be incorrect.">
            <a:extLst>
              <a:ext uri="{FF2B5EF4-FFF2-40B4-BE49-F238E27FC236}">
                <a16:creationId xmlns:a16="http://schemas.microsoft.com/office/drawing/2014/main" id="{0EF23BBD-2856-147D-2C21-CA1F13964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3210" y="2016125"/>
            <a:ext cx="6519904" cy="3449638"/>
          </a:xfrm>
        </p:spPr>
      </p:pic>
    </p:spTree>
    <p:extLst>
      <p:ext uri="{BB962C8B-B14F-4D97-AF65-F5344CB8AC3E}">
        <p14:creationId xmlns:p14="http://schemas.microsoft.com/office/powerpoint/2010/main" val="1126109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1E6A-9352-1C7E-4266-37527ED2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CANARY Deployment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E6227D-8A87-1CEB-270C-9755D658D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4318" y="2016125"/>
            <a:ext cx="567768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61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D421-6823-2B42-C546-47B7CA80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BREAKING </a:t>
            </a:r>
          </a:p>
        </p:txBody>
      </p:sp>
      <p:pic>
        <p:nvPicPr>
          <p:cNvPr id="5" name="Picture 4" descr="A diagram of a service&#10;&#10;AI-generated content may be incorrect.">
            <a:extLst>
              <a:ext uri="{FF2B5EF4-FFF2-40B4-BE49-F238E27FC236}">
                <a16:creationId xmlns:a16="http://schemas.microsoft.com/office/drawing/2014/main" id="{DDA40610-CA54-BAC7-E098-794EFAF7C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37"/>
          <a:stretch>
            <a:fillRect/>
          </a:stretch>
        </p:blipFill>
        <p:spPr>
          <a:xfrm>
            <a:off x="1984895" y="2209136"/>
            <a:ext cx="4268321" cy="306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60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4F30-E3B6-0654-890C-557DBEB0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TIMEOUTS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2BA472-7DE2-E94A-1C44-95C2008D0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221" y="2016125"/>
            <a:ext cx="6591882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3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634F-B79A-3085-825A-28B8CC8E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1A1A78-6183-228D-6CB7-F46D4ED28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221" y="2016125"/>
            <a:ext cx="6591882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72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6D99-6592-3B29-6901-1CC26718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and ABORTS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59D86C-D769-4D9A-E905-5AD70F8CA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245" y="2428749"/>
            <a:ext cx="3546801" cy="299219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84B887-6736-4120-FB01-2711B62619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53" t="64408" r="27394" b="-7422"/>
          <a:stretch>
            <a:fillRect/>
          </a:stretch>
        </p:blipFill>
        <p:spPr>
          <a:xfrm>
            <a:off x="5028807" y="2490651"/>
            <a:ext cx="6222667" cy="33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99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D217-EC13-067C-7D50-7886631C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MIRRORING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78F513-5504-8208-CE12-7CD5DB58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8466" y="2016125"/>
            <a:ext cx="5789392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14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F44B-3186-C37C-F14B-019B3B7A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4A491F-C02C-C31C-D86C-F4A13977E52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3565220"/>
              </p:ext>
            </p:extLst>
          </p:nvPr>
        </p:nvGraphicFramePr>
        <p:xfrm>
          <a:off x="1447800" y="2892560"/>
          <a:ext cx="4645026" cy="1822816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548342">
                  <a:extLst>
                    <a:ext uri="{9D8B030D-6E8A-4147-A177-3AD203B41FA5}">
                      <a16:colId xmlns:a16="http://schemas.microsoft.com/office/drawing/2014/main" val="1585218556"/>
                    </a:ext>
                  </a:extLst>
                </a:gridCol>
                <a:gridCol w="1548342">
                  <a:extLst>
                    <a:ext uri="{9D8B030D-6E8A-4147-A177-3AD203B41FA5}">
                      <a16:colId xmlns:a16="http://schemas.microsoft.com/office/drawing/2014/main" val="321279950"/>
                    </a:ext>
                  </a:extLst>
                </a:gridCol>
                <a:gridCol w="1548342">
                  <a:extLst>
                    <a:ext uri="{9D8B030D-6E8A-4147-A177-3AD203B41FA5}">
                      <a16:colId xmlns:a16="http://schemas.microsoft.com/office/drawing/2014/main" val="2806043010"/>
                    </a:ext>
                  </a:extLst>
                </a:gridCol>
              </a:tblGrid>
              <a:tr h="176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TLS Type</a:t>
                      </a:r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Where Termination Happens</a:t>
                      </a:r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Use Case</a:t>
                      </a:r>
                    </a:p>
                  </a:txBody>
                  <a:tcPr marL="44224" marR="44224" marT="22112" marB="22112" anchor="ctr"/>
                </a:tc>
                <a:extLst>
                  <a:ext uri="{0D108BD9-81ED-4DB2-BD59-A6C34878D82A}">
                    <a16:rowId xmlns:a16="http://schemas.microsoft.com/office/drawing/2014/main" val="354934149"/>
                  </a:ext>
                </a:extLst>
              </a:tr>
              <a:tr h="574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Ingress Gateway TLS (Edge TLS)</a:t>
                      </a:r>
                      <a:endParaRPr lang="en-IN" sz="900"/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At the Istio </a:t>
                      </a:r>
                      <a:r>
                        <a:rPr lang="en-IN" sz="900" b="1"/>
                        <a:t>Ingress Gateway</a:t>
                      </a:r>
                      <a:endParaRPr lang="en-IN" sz="900"/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External clients connect via HTTPS; Gateway decrypts TLS and forwards plain HTTP to the mesh.</a:t>
                      </a:r>
                    </a:p>
                  </a:txBody>
                  <a:tcPr marL="44224" marR="44224" marT="22112" marB="22112" anchor="ctr"/>
                </a:tc>
                <a:extLst>
                  <a:ext uri="{0D108BD9-81ED-4DB2-BD59-A6C34878D82A}">
                    <a16:rowId xmlns:a16="http://schemas.microsoft.com/office/drawing/2014/main" val="499517201"/>
                  </a:ext>
                </a:extLst>
              </a:tr>
              <a:tr h="442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Mutual TLS (mTLS) in Mesh</a:t>
                      </a:r>
                      <a:endParaRPr lang="en-IN" sz="900"/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Between Envoy sidecars in pods</a:t>
                      </a:r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Traffic inside the mesh is encrypted end-to-end between services.</a:t>
                      </a:r>
                    </a:p>
                  </a:txBody>
                  <a:tcPr marL="44224" marR="44224" marT="22112" marB="22112" anchor="ctr"/>
                </a:tc>
                <a:extLst>
                  <a:ext uri="{0D108BD9-81ED-4DB2-BD59-A6C34878D82A}">
                    <a16:rowId xmlns:a16="http://schemas.microsoft.com/office/drawing/2014/main" val="647802712"/>
                  </a:ext>
                </a:extLst>
              </a:tr>
              <a:tr h="442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Destination TLS / HTTPS</a:t>
                      </a:r>
                      <a:endParaRPr lang="en-IN" sz="900"/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Envoy sidecar terminates TLS for egress or calls to internal HTTPS services</a:t>
                      </a:r>
                    </a:p>
                  </a:txBody>
                  <a:tcPr marL="44224" marR="44224" marT="22112" marB="221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When a service communicates over HTTPS inside the mesh.</a:t>
                      </a:r>
                    </a:p>
                  </a:txBody>
                  <a:tcPr marL="44224" marR="44224" marT="22112" marB="22112" anchor="ctr"/>
                </a:tc>
                <a:extLst>
                  <a:ext uri="{0D108BD9-81ED-4DB2-BD59-A6C34878D82A}">
                    <a16:rowId xmlns:a16="http://schemas.microsoft.com/office/drawing/2014/main" val="465159183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C7691-6A9C-FA68-33BA-BB8EBCAC0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9700" y="2083208"/>
            <a:ext cx="4645152" cy="3441520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Client HTTPS → Istio Gateway (terminates TLS) → Sidecar → Service</a:t>
            </a:r>
          </a:p>
          <a:p>
            <a:r>
              <a:rPr lang="en-IN" dirty="0" err="1"/>
              <a:t>apiVersion</a:t>
            </a:r>
            <a:r>
              <a:rPr lang="en-IN" dirty="0"/>
              <a:t>: </a:t>
            </a:r>
            <a:r>
              <a:rPr lang="en-IN" dirty="0" err="1"/>
              <a:t>networking.istio.io</a:t>
            </a:r>
            <a:r>
              <a:rPr lang="en-IN" dirty="0"/>
              <a:t>/v1beta1</a:t>
            </a:r>
            <a:br>
              <a:rPr lang="en-IN" dirty="0"/>
            </a:br>
            <a:r>
              <a:rPr lang="en-IN" dirty="0"/>
              <a:t>kind: Gateway</a:t>
            </a:r>
            <a:br>
              <a:rPr lang="en-IN" dirty="0"/>
            </a:br>
            <a:r>
              <a:rPr lang="en-IN" dirty="0"/>
              <a:t>metadata:</a:t>
            </a:r>
            <a:br>
              <a:rPr lang="en-IN" dirty="0"/>
            </a:br>
            <a:r>
              <a:rPr lang="en-IN" dirty="0"/>
              <a:t>name: </a:t>
            </a:r>
            <a:r>
              <a:rPr lang="en-IN" dirty="0" err="1"/>
              <a:t>bookinfo</a:t>
            </a:r>
            <a:r>
              <a:rPr lang="en-IN" dirty="0"/>
              <a:t>-gateway</a:t>
            </a:r>
            <a:br>
              <a:rPr lang="en-IN" dirty="0"/>
            </a:br>
            <a:r>
              <a:rPr lang="en-IN" dirty="0"/>
              <a:t>namespace: default</a:t>
            </a:r>
            <a:br>
              <a:rPr lang="en-IN" dirty="0"/>
            </a:br>
            <a:r>
              <a:rPr lang="en-IN" dirty="0"/>
              <a:t>spec:</a:t>
            </a:r>
            <a:br>
              <a:rPr lang="en-IN" dirty="0"/>
            </a:br>
            <a:r>
              <a:rPr lang="en-IN" dirty="0"/>
              <a:t>selector:</a:t>
            </a:r>
            <a:br>
              <a:rPr lang="en-IN" dirty="0"/>
            </a:br>
            <a:r>
              <a:rPr lang="en-IN" dirty="0"/>
              <a:t>istio: </a:t>
            </a:r>
            <a:r>
              <a:rPr lang="en-IN" dirty="0" err="1"/>
              <a:t>ingressgateway</a:t>
            </a:r>
            <a:r>
              <a:rPr lang="en-IN" dirty="0"/>
              <a:t> # use Istio's ingress gateway</a:t>
            </a:r>
            <a:br>
              <a:rPr lang="en-IN" dirty="0"/>
            </a:br>
            <a:r>
              <a:rPr lang="en-IN" dirty="0"/>
              <a:t>servers:</a:t>
            </a:r>
            <a:br>
              <a:rPr lang="en-IN" dirty="0"/>
            </a:br>
            <a:r>
              <a:rPr lang="en-IN" dirty="0"/>
              <a:t>- port:</a:t>
            </a:r>
            <a:br>
              <a:rPr lang="en-IN" dirty="0"/>
            </a:br>
            <a:r>
              <a:rPr lang="en-IN" dirty="0"/>
              <a:t>number: 443</a:t>
            </a:r>
            <a:br>
              <a:rPr lang="en-IN" dirty="0"/>
            </a:br>
            <a:r>
              <a:rPr lang="en-IN" dirty="0"/>
              <a:t>name: https</a:t>
            </a:r>
            <a:br>
              <a:rPr lang="en-IN" dirty="0"/>
            </a:br>
            <a:r>
              <a:rPr lang="en-IN" dirty="0"/>
              <a:t>protocol: HTTPS</a:t>
            </a:r>
            <a:br>
              <a:rPr lang="en-IN" dirty="0"/>
            </a:br>
            <a:r>
              <a:rPr lang="en-IN" dirty="0" err="1"/>
              <a:t>tls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mode: SIMPLE # Edge TLS termination</a:t>
            </a:r>
            <a:br>
              <a:rPr lang="en-IN" dirty="0"/>
            </a:br>
            <a:r>
              <a:rPr lang="en-IN" dirty="0" err="1"/>
              <a:t>credentialName</a:t>
            </a:r>
            <a:r>
              <a:rPr lang="en-IN" dirty="0"/>
              <a:t>: </a:t>
            </a:r>
            <a:r>
              <a:rPr lang="en-IN" dirty="0" err="1"/>
              <a:t>bookinfo-tls</a:t>
            </a:r>
            <a:r>
              <a:rPr lang="en-IN" dirty="0"/>
              <a:t> # Kubernetes secret with cert/key</a:t>
            </a:r>
            <a:br>
              <a:rPr lang="en-IN" dirty="0"/>
            </a:br>
            <a:r>
              <a:rPr lang="en-IN" dirty="0"/>
              <a:t>hosts:</a:t>
            </a:r>
            <a:br>
              <a:rPr lang="en-IN" dirty="0"/>
            </a:br>
            <a:r>
              <a:rPr lang="en-IN" dirty="0"/>
              <a:t>- "</a:t>
            </a:r>
            <a:r>
              <a:rPr lang="en-IN" dirty="0" err="1"/>
              <a:t>bookinfo.example.com</a:t>
            </a:r>
            <a:r>
              <a:rPr lang="en-IN" dirty="0"/>
              <a:t>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43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71D7-28BD-5798-7D90-2DEA1BCD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ENCRYPTION – MTLS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1FC00E-D8A7-44C3-FFE6-8FB1DCBCC4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545440"/>
            <a:ext cx="4645025" cy="2379895"/>
          </a:xfrm>
          <a:prstGeom prst="rect">
            <a:avLst/>
          </a:prstGeom>
        </p:spPr>
      </p:pic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861D5A9-1EDF-CC11-7DA0-C39F9F06AB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237203"/>
            <a:ext cx="4645025" cy="3002720"/>
          </a:xfrm>
        </p:spPr>
      </p:pic>
    </p:spTree>
    <p:extLst>
      <p:ext uri="{BB962C8B-B14F-4D97-AF65-F5344CB8AC3E}">
        <p14:creationId xmlns:p14="http://schemas.microsoft.com/office/powerpoint/2010/main" val="1416464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F0B0-27E8-F107-1A3E-5E300802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AUTHORIZATION POLICY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7BF17-601B-45F6-60DD-D38B013F99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-236" t="7951" r="236" b="-2693"/>
          <a:stretch>
            <a:fillRect/>
          </a:stretch>
        </p:blipFill>
        <p:spPr>
          <a:xfrm>
            <a:off x="1867940" y="2142565"/>
            <a:ext cx="3804744" cy="3316848"/>
          </a:xfrm>
          <a:prstGeom prst="rect">
            <a:avLst/>
          </a:prstGeom>
        </p:spPr>
      </p:pic>
      <p:pic>
        <p:nvPicPr>
          <p:cNvPr id="10" name="Content Placeholder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AED0C2D-36D8-4615-DD92-58D4DCEFFD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3500" y="2169053"/>
            <a:ext cx="4645025" cy="313902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EA887C-3BBE-45B7-500F-CE056AC9F156}"/>
              </a:ext>
            </a:extLst>
          </p:cNvPr>
          <p:cNvSpPr txBox="1"/>
          <p:nvPr/>
        </p:nvSpPr>
        <p:spPr>
          <a:xfrm>
            <a:off x="2322149" y="5553118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istio.io</a:t>
            </a:r>
            <a:r>
              <a:rPr lang="en-US" dirty="0"/>
              <a:t>/latest/docs/concepts/security/</a:t>
            </a:r>
          </a:p>
        </p:txBody>
      </p:sp>
    </p:spTree>
    <p:extLst>
      <p:ext uri="{BB962C8B-B14F-4D97-AF65-F5344CB8AC3E}">
        <p14:creationId xmlns:p14="http://schemas.microsoft.com/office/powerpoint/2010/main" val="2241406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1725-6EF0-F28A-FBBC-06AAFBF9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EGRESS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030E7-59AF-2257-C4CD-A89F97E2B8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Allowing egress traffic</a:t>
            </a:r>
          </a:p>
          <a:p>
            <a:endParaRPr lang="en-IN" dirty="0"/>
          </a:p>
          <a:p>
            <a:r>
              <a:rPr lang="en-IN" dirty="0" err="1"/>
              <a:t>apiVersion</a:t>
            </a:r>
            <a:r>
              <a:rPr lang="en-IN" dirty="0"/>
              <a:t>: </a:t>
            </a:r>
            <a:r>
              <a:rPr lang="en-IN" dirty="0" err="1"/>
              <a:t>networking.istio.io</a:t>
            </a:r>
            <a:r>
              <a:rPr lang="en-IN" dirty="0"/>
              <a:t>/v1beta1</a:t>
            </a:r>
            <a:br>
              <a:rPr lang="en-IN" dirty="0"/>
            </a:br>
            <a:r>
              <a:rPr lang="en-IN" dirty="0"/>
              <a:t>kind: </a:t>
            </a:r>
            <a:r>
              <a:rPr lang="en-IN" dirty="0" err="1"/>
              <a:t>ServiceEntry</a:t>
            </a:r>
            <a:br>
              <a:rPr lang="en-IN" dirty="0"/>
            </a:br>
            <a:r>
              <a:rPr lang="en-IN" dirty="0"/>
              <a:t>metadata:</a:t>
            </a:r>
            <a:br>
              <a:rPr lang="en-IN" dirty="0"/>
            </a:br>
            <a:r>
              <a:rPr lang="en-IN" dirty="0"/>
              <a:t>name: allow-all-external</a:t>
            </a:r>
            <a:br>
              <a:rPr lang="en-IN" dirty="0"/>
            </a:br>
            <a:r>
              <a:rPr lang="en-IN" dirty="0"/>
              <a:t>spec:</a:t>
            </a:r>
            <a:br>
              <a:rPr lang="en-IN" dirty="0"/>
            </a:br>
            <a:r>
              <a:rPr lang="en-IN" dirty="0"/>
              <a:t>hosts:</a:t>
            </a:r>
            <a:br>
              <a:rPr lang="en-IN" dirty="0"/>
            </a:br>
            <a:r>
              <a:rPr lang="en-IN" dirty="0"/>
              <a:t>- "*.</a:t>
            </a:r>
            <a:r>
              <a:rPr lang="en-IN" dirty="0" err="1"/>
              <a:t>google.com</a:t>
            </a:r>
            <a:r>
              <a:rPr lang="en-IN" dirty="0"/>
              <a:t>" # or "*" for all </a:t>
            </a:r>
          </a:p>
          <a:p>
            <a:r>
              <a:rPr lang="en-IN" dirty="0"/>
              <a:t>- “</a:t>
            </a:r>
            <a:r>
              <a:rPr lang="en-IN" dirty="0" err="1"/>
              <a:t>www.maps.com</a:t>
            </a:r>
            <a:r>
              <a:rPr lang="en-IN" dirty="0"/>
              <a:t>”</a:t>
            </a:r>
            <a:br>
              <a:rPr lang="en-IN" dirty="0"/>
            </a:br>
            <a:r>
              <a:rPr lang="en-IN" dirty="0"/>
              <a:t>location: MESH_EXTERNAL</a:t>
            </a:r>
            <a:br>
              <a:rPr lang="en-IN" dirty="0"/>
            </a:br>
            <a:r>
              <a:rPr lang="en-IN" dirty="0"/>
              <a:t>ports:</a:t>
            </a:r>
            <a:br>
              <a:rPr lang="en-IN" dirty="0"/>
            </a:br>
            <a:r>
              <a:rPr lang="en-IN" dirty="0"/>
              <a:t>- number: 443</a:t>
            </a:r>
            <a:br>
              <a:rPr lang="en-IN" dirty="0"/>
            </a:br>
            <a:r>
              <a:rPr lang="en-IN" dirty="0"/>
              <a:t>name: https</a:t>
            </a:r>
            <a:br>
              <a:rPr lang="en-IN" dirty="0"/>
            </a:br>
            <a:r>
              <a:rPr lang="en-IN" dirty="0"/>
              <a:t>protocol: HTTPS</a:t>
            </a:r>
            <a:br>
              <a:rPr lang="en-IN" dirty="0"/>
            </a:br>
            <a:r>
              <a:rPr lang="en-IN" dirty="0"/>
              <a:t>resolution: DNS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1FBB5-829E-8AE2-48EB-57FEBA537B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 err="1"/>
              <a:t>apiVersion</a:t>
            </a:r>
            <a:r>
              <a:rPr lang="en-IN" dirty="0"/>
              <a:t>: </a:t>
            </a:r>
            <a:r>
              <a:rPr lang="en-IN" dirty="0" err="1"/>
              <a:t>networking.istio.io</a:t>
            </a:r>
            <a:r>
              <a:rPr lang="en-IN" dirty="0"/>
              <a:t>/v1beta1</a:t>
            </a:r>
            <a:br>
              <a:rPr lang="en-IN" dirty="0"/>
            </a:br>
            <a:r>
              <a:rPr lang="en-IN" dirty="0"/>
              <a:t>kind: Gateway</a:t>
            </a:r>
            <a:br>
              <a:rPr lang="en-IN" dirty="0"/>
            </a:br>
            <a:r>
              <a:rPr lang="en-IN" dirty="0"/>
              <a:t>metadata:</a:t>
            </a:r>
            <a:br>
              <a:rPr lang="en-IN" dirty="0"/>
            </a:br>
            <a:r>
              <a:rPr lang="en-IN" dirty="0"/>
              <a:t>name: istio-</a:t>
            </a:r>
            <a:r>
              <a:rPr lang="en-IN" dirty="0" err="1"/>
              <a:t>egressgateway</a:t>
            </a:r>
            <a:br>
              <a:rPr lang="en-IN" dirty="0"/>
            </a:br>
            <a:r>
              <a:rPr lang="en-IN" dirty="0"/>
              <a:t>namespace: istio-system</a:t>
            </a:r>
            <a:br>
              <a:rPr lang="en-IN" dirty="0"/>
            </a:br>
            <a:r>
              <a:rPr lang="en-IN" dirty="0"/>
              <a:t>spec:</a:t>
            </a:r>
            <a:br>
              <a:rPr lang="en-IN" dirty="0"/>
            </a:br>
            <a:r>
              <a:rPr lang="en-IN" dirty="0"/>
              <a:t>selector:</a:t>
            </a:r>
            <a:br>
              <a:rPr lang="en-IN" dirty="0"/>
            </a:br>
            <a:r>
              <a:rPr lang="en-IN" dirty="0"/>
              <a:t>istio: </a:t>
            </a:r>
            <a:r>
              <a:rPr lang="en-IN" dirty="0" err="1"/>
              <a:t>egressgateway</a:t>
            </a:r>
            <a:br>
              <a:rPr lang="en-IN" dirty="0"/>
            </a:br>
            <a:r>
              <a:rPr lang="en-IN" dirty="0"/>
              <a:t>servers:</a:t>
            </a:r>
            <a:br>
              <a:rPr lang="en-IN" dirty="0"/>
            </a:br>
            <a:r>
              <a:rPr lang="en-IN" dirty="0"/>
              <a:t>- port:</a:t>
            </a:r>
            <a:br>
              <a:rPr lang="en-IN" dirty="0"/>
            </a:br>
            <a:r>
              <a:rPr lang="en-IN" dirty="0"/>
              <a:t>number: 443</a:t>
            </a:r>
            <a:br>
              <a:rPr lang="en-IN" dirty="0"/>
            </a:br>
            <a:r>
              <a:rPr lang="en-IN" dirty="0"/>
              <a:t>name: https</a:t>
            </a:r>
            <a:br>
              <a:rPr lang="en-IN" dirty="0"/>
            </a:br>
            <a:r>
              <a:rPr lang="en-IN" dirty="0"/>
              <a:t>protocol: HTTPS</a:t>
            </a:r>
            <a:br>
              <a:rPr lang="en-IN" dirty="0"/>
            </a:br>
            <a:r>
              <a:rPr lang="en-IN" dirty="0"/>
              <a:t>hosts:</a:t>
            </a:r>
            <a:br>
              <a:rPr lang="en-IN" dirty="0"/>
            </a:br>
            <a:r>
              <a:rPr lang="en-IN" dirty="0"/>
              <a:t>- "</a:t>
            </a:r>
            <a:r>
              <a:rPr lang="en-IN" dirty="0" err="1"/>
              <a:t>api.external.com</a:t>
            </a:r>
            <a:r>
              <a:rPr lang="en-IN" dirty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05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7DF1-BC4C-5525-5CD0-560BE308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1440A-52FF-8409-43B2-C155B989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Kiali </a:t>
            </a:r>
          </a:p>
          <a:p>
            <a:r>
              <a:rPr lang="en-US" dirty="0" err="1"/>
              <a:t>Promtheus</a:t>
            </a:r>
            <a:r>
              <a:rPr lang="en-US" dirty="0"/>
              <a:t> and Grafana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26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13F19-09DB-756C-E180-17E9F91C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3572-1D1C-9847-98D6-EFD1422AE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Timeout , Retry</a:t>
            </a:r>
          </a:p>
          <a:p>
            <a:r>
              <a:rPr lang="en-US" dirty="0"/>
              <a:t>Fault Tolerance </a:t>
            </a:r>
          </a:p>
          <a:p>
            <a:r>
              <a:rPr lang="en-US" dirty="0"/>
              <a:t>Circuit Breaking </a:t>
            </a:r>
          </a:p>
          <a:p>
            <a:r>
              <a:rPr lang="en-US" dirty="0"/>
              <a:t>CANARY Rollout </a:t>
            </a:r>
          </a:p>
          <a:p>
            <a:r>
              <a:rPr lang="en-US" dirty="0"/>
              <a:t>Blue Green Rollouts </a:t>
            </a:r>
          </a:p>
          <a:p>
            <a:r>
              <a:rPr lang="en-US" dirty="0"/>
              <a:t>MTLS Encryption</a:t>
            </a:r>
          </a:p>
          <a:p>
            <a:r>
              <a:rPr lang="en-US" dirty="0"/>
              <a:t>TLS TERMINATION</a:t>
            </a:r>
          </a:p>
        </p:txBody>
      </p:sp>
    </p:spTree>
    <p:extLst>
      <p:ext uri="{BB962C8B-B14F-4D97-AF65-F5344CB8AC3E}">
        <p14:creationId xmlns:p14="http://schemas.microsoft.com/office/powerpoint/2010/main" val="29796964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2305</TotalTime>
  <Words>916</Words>
  <Application>Microsoft Macintosh PowerPoint</Application>
  <PresentationFormat>Widescreen</PresentationFormat>
  <Paragraphs>162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Gill Sans MT</vt:lpstr>
      <vt:lpstr>Gallery</vt:lpstr>
      <vt:lpstr>Week5</vt:lpstr>
      <vt:lpstr>Agenda</vt:lpstr>
      <vt:lpstr>EXPOSE Application - Load Balancer</vt:lpstr>
      <vt:lpstr>Drawbacks of Load Balancers </vt:lpstr>
      <vt:lpstr>Quick Comparison</vt:lpstr>
      <vt:lpstr>MetaLB in K8s</vt:lpstr>
      <vt:lpstr>Traffic Flow with METALB</vt:lpstr>
      <vt:lpstr>Ingress Controller</vt:lpstr>
      <vt:lpstr>Deprecated Notice – Nginx  </vt:lpstr>
      <vt:lpstr>PowerPoint Presentation</vt:lpstr>
      <vt:lpstr>Assignment GATEWAY API </vt:lpstr>
      <vt:lpstr>Problem in Ingress Controllers / Microservices</vt:lpstr>
      <vt:lpstr>Istio Documentation</vt:lpstr>
      <vt:lpstr>What is Istio Sidecar ? </vt:lpstr>
      <vt:lpstr>Istio Architecture</vt:lpstr>
      <vt:lpstr>How Istio solves the problem?</vt:lpstr>
      <vt:lpstr>RECAP of Envoy</vt:lpstr>
      <vt:lpstr>Install Istio </vt:lpstr>
      <vt:lpstr>GAteway</vt:lpstr>
      <vt:lpstr>VIRTUAL SERVICE </vt:lpstr>
      <vt:lpstr>DESTINATION RULE </vt:lpstr>
      <vt:lpstr>Traffic Management</vt:lpstr>
      <vt:lpstr>BLUE Green DEPLOYMENT</vt:lpstr>
      <vt:lpstr>CANARY Deployment</vt:lpstr>
      <vt:lpstr>CIRCUIT BREAKING </vt:lpstr>
      <vt:lpstr>TIMEOUTS</vt:lpstr>
      <vt:lpstr>RETRY</vt:lpstr>
      <vt:lpstr>Delay and ABORTS</vt:lpstr>
      <vt:lpstr>Traffic MIRRORING</vt:lpstr>
      <vt:lpstr>TLS </vt:lpstr>
      <vt:lpstr>TRAFFIC ENCRYPTION – MTLS </vt:lpstr>
      <vt:lpstr>AUTHORIZATION POLICY   </vt:lpstr>
      <vt:lpstr>EGRESS TRAFFIC</vt:lpstr>
      <vt:lpstr>Observability</vt:lpstr>
      <vt:lpstr>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Anbalagan</dc:creator>
  <cp:lastModifiedBy>Lavanya Anbalagan</cp:lastModifiedBy>
  <cp:revision>3</cp:revision>
  <dcterms:created xsi:type="dcterms:W3CDTF">2026-03-17T02:52:34Z</dcterms:created>
  <dcterms:modified xsi:type="dcterms:W3CDTF">2026-03-21T14:58:48Z</dcterms:modified>
</cp:coreProperties>
</file>